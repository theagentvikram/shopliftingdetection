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1"/>
  </p:notesMasterIdLst>
  <p:sldIdLst>
    <p:sldId id="256" r:id="rId2"/>
    <p:sldId id="307" r:id="rId3"/>
    <p:sldId id="313" r:id="rId4"/>
    <p:sldId id="302" r:id="rId5"/>
    <p:sldId id="305" r:id="rId6"/>
    <p:sldId id="343" r:id="rId7"/>
    <p:sldId id="346" r:id="rId8"/>
    <p:sldId id="371" r:id="rId9"/>
    <p:sldId id="372" r:id="rId10"/>
    <p:sldId id="334" r:id="rId11"/>
    <p:sldId id="272" r:id="rId12"/>
    <p:sldId id="275" r:id="rId13"/>
    <p:sldId id="276" r:id="rId14"/>
    <p:sldId id="277" r:id="rId15"/>
    <p:sldId id="278" r:id="rId16"/>
    <p:sldId id="279" r:id="rId17"/>
    <p:sldId id="373" r:id="rId18"/>
    <p:sldId id="376" r:id="rId19"/>
    <p:sldId id="375" r:id="rId20"/>
    <p:sldId id="374" r:id="rId21"/>
    <p:sldId id="377" r:id="rId22"/>
    <p:sldId id="273" r:id="rId23"/>
    <p:sldId id="274" r:id="rId24"/>
    <p:sldId id="344" r:id="rId25"/>
    <p:sldId id="345" r:id="rId26"/>
    <p:sldId id="378" r:id="rId27"/>
    <p:sldId id="299" r:id="rId28"/>
    <p:sldId id="304" r:id="rId29"/>
    <p:sldId id="291" r:id="rId3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44"/>
    <p:restoredTop sz="94726"/>
  </p:normalViewPr>
  <p:slideViewPr>
    <p:cSldViewPr>
      <p:cViewPr>
        <p:scale>
          <a:sx n="80" d="100"/>
          <a:sy n="80" d="100"/>
        </p:scale>
        <p:origin x="880" y="1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0372698-6477-DD4A-9395-F3A477585C05}" type="datetimeFigureOut">
              <a:rPr lang="en-US" smtClean="0"/>
              <a:t>3/22/25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77B09A4-307B-9044-9281-283B63B22679}" type="slidenum">
              <a:rPr lang="en-US" smtClean="0"/>
              <a:t>‹#›</a:t>
            </a:fld>
            <a:endParaRPr lang="en-US"/>
          </a:p>
        </p:txBody>
      </p:sp>
    </p:spTree>
    <p:extLst>
      <p:ext uri="{BB962C8B-B14F-4D97-AF65-F5344CB8AC3E}">
        <p14:creationId xmlns:p14="http://schemas.microsoft.com/office/powerpoint/2010/main" val="398036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alpha val="100000"/>
              </a:srgbClr>
            </a:solidFill>
            <a:miter lim="800000"/>
          </a:ln>
        </p:spPr>
      </p:sp>
      <p:sp>
        <p:nvSpPr>
          <p:cNvPr id="16387"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1638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4</a:t>
            </a:fld>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a:solidFill>
              <a:srgbClr val="000000">
                <a:alpha val="100000"/>
              </a:srgbClr>
            </a:solidFill>
            <a:miter lim="800000"/>
          </a:ln>
        </p:spPr>
      </p:sp>
      <p:sp>
        <p:nvSpPr>
          <p:cNvPr id="18435"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1843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5</a:t>
            </a:fld>
            <a:endParaRPr lang="en-US"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alpha val="100000"/>
              </a:srgbClr>
            </a:solidFill>
            <a:miter lim="800000"/>
          </a:ln>
        </p:spPr>
      </p:sp>
      <p:sp>
        <p:nvSpPr>
          <p:cNvPr id="25603"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56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7</a:t>
            </a:fld>
            <a:endParaRPr lang="en-US"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C50A8-B59C-41EE-9252-BD5EFD0F718F}"/>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2DF7CC2-E603-B0B5-B6F4-3E092E39793D}"/>
              </a:ext>
            </a:extLst>
          </p:cNvPr>
          <p:cNvSpPr>
            <a:spLocks noGrp="1" noRot="1" noChangeAspect="1" noTextEdit="1"/>
          </p:cNvSpPr>
          <p:nvPr>
            <p:ph type="sldImg"/>
          </p:nvPr>
        </p:nvSpPr>
        <p:spPr>
          <a:ln>
            <a:solidFill>
              <a:srgbClr val="000000">
                <a:alpha val="100000"/>
              </a:srgbClr>
            </a:solidFill>
            <a:miter lim="800000"/>
          </a:ln>
        </p:spPr>
      </p:sp>
      <p:sp>
        <p:nvSpPr>
          <p:cNvPr id="25603" name="Notes Placeholder 2">
            <a:extLst>
              <a:ext uri="{FF2B5EF4-FFF2-40B4-BE49-F238E27FC236}">
                <a16:creationId xmlns:a16="http://schemas.microsoft.com/office/drawing/2014/main" id="{690DE491-23E5-5ECD-12B5-B78F349CD348}"/>
              </a:ext>
            </a:extLst>
          </p:cNvPr>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5604" name="Slide Number Placeholder 3">
            <a:extLst>
              <a:ext uri="{FF2B5EF4-FFF2-40B4-BE49-F238E27FC236}">
                <a16:creationId xmlns:a16="http://schemas.microsoft.com/office/drawing/2014/main" id="{8466627F-3EA7-FD5C-4AFB-91B1BA38E9D6}"/>
              </a:ext>
            </a:extLst>
          </p:cNvPr>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8</a:t>
            </a:fld>
            <a:endParaRPr lang="en-US" altLang="en-US" dirty="0">
              <a:latin typeface="Arial" panose="020B0604020202020204" pitchFamily="34" charset="0"/>
            </a:endParaRPr>
          </a:p>
        </p:txBody>
      </p:sp>
    </p:spTree>
    <p:extLst>
      <p:ext uri="{BB962C8B-B14F-4D97-AF65-F5344CB8AC3E}">
        <p14:creationId xmlns:p14="http://schemas.microsoft.com/office/powerpoint/2010/main" val="894548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a:solidFill>
              <a:srgbClr val="000000">
                <a:alpha val="100000"/>
              </a:srgbClr>
            </a:solidFill>
            <a:miter lim="800000"/>
          </a:ln>
        </p:spPr>
      </p:sp>
      <p:sp>
        <p:nvSpPr>
          <p:cNvPr id="27651"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765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9</a:t>
            </a:fld>
            <a:endParaRPr lang="en-US"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a:solidFill>
              <a:srgbClr val="000000">
                <a:alpha val="100000"/>
              </a:srgbClr>
            </a:solidFill>
            <a:miter lim="800000"/>
          </a:ln>
        </p:spPr>
      </p:sp>
      <p:sp>
        <p:nvSpPr>
          <p:cNvPr id="40963"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4096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27</a:t>
            </a:fld>
            <a:endParaRPr lang="en-US"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a:solidFill>
              <a:srgbClr val="000000">
                <a:alpha val="100000"/>
              </a:srgbClr>
            </a:solidFill>
            <a:miter lim="800000"/>
          </a:ln>
        </p:spPr>
      </p:sp>
      <p:sp>
        <p:nvSpPr>
          <p:cNvPr id="43011"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4301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28</a:t>
            </a:fld>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3F90C-EB8D-A33D-C0A4-DEE6BBC90E7B}"/>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4E726FD1-A28D-9A0E-ECC1-55C0608E7AD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FDEC0A1-9134-003E-FE5F-0287322DBF52}"/>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7A840B33-AD43-FDA5-5B80-D45C2810F4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29245D-97B5-F37E-7AD4-0FF07FCBBF78}"/>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350877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58A3F-9F57-F58C-8011-377BC14C093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EAE1025-F179-A4B6-1204-DD4171F7CC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450B10-AEAD-92B6-C91A-9BF46685DAB5}"/>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A1138637-9750-4135-D9A8-6559FBD185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1EDF6D-C030-2A2E-EC47-A01216E7AC18}"/>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398836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7DC9-3432-390B-0924-9CE612962853}"/>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C887230-64AE-76E8-50EE-11EB274A85E6}"/>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7668CE-756C-0780-2186-420ED78E47CC}"/>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D33DD3AF-3828-B341-7C73-E8B794610A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C86348-C8A8-BB5C-F3ED-9F0E7511B8AA}"/>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956679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176B1-00B4-C2D9-AE03-58E7F19BF70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CDB35EF-9F52-6065-29D8-D39CA7204350}"/>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F6B14A9-106B-350E-5D2F-28879761558A}"/>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D31B19F-9B02-10A5-D795-4E69FBD2B8F8}"/>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6" name="Footer Placeholder 5">
            <a:extLst>
              <a:ext uri="{FF2B5EF4-FFF2-40B4-BE49-F238E27FC236}">
                <a16:creationId xmlns:a16="http://schemas.microsoft.com/office/drawing/2014/main" id="{8E020BA8-3F52-6EF9-98C8-E31F2A011F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4C02D4-0735-315F-8E13-D0F216D54F37}"/>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41451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A08A-B51F-7B4A-072F-6F75A53B340C}"/>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D413FEB-8D72-04F0-F687-49EFEDD60E7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61F4948C-CFAD-79F6-F5C3-4288F0225F96}"/>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A741B22-1E4C-ED7F-0875-E41261AEA33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33E49B8C-9595-0ED8-00D8-1F6CDBB84D58}"/>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F115D63-0E92-C8ED-BFB2-06BDCBC07578}"/>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8" name="Footer Placeholder 7">
            <a:extLst>
              <a:ext uri="{FF2B5EF4-FFF2-40B4-BE49-F238E27FC236}">
                <a16:creationId xmlns:a16="http://schemas.microsoft.com/office/drawing/2014/main" id="{62A1257E-02FC-BC8C-FA1A-C9C0392FA9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EACEE5A-24D3-C107-8555-93D1DF8B2FEA}"/>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960684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C51C1-950B-E936-6C78-C33D5BE468C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6EB9D24-5CE1-A05B-5A15-3E4E8841C0D1}"/>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4" name="Footer Placeholder 3">
            <a:extLst>
              <a:ext uri="{FF2B5EF4-FFF2-40B4-BE49-F238E27FC236}">
                <a16:creationId xmlns:a16="http://schemas.microsoft.com/office/drawing/2014/main" id="{A3A634F7-B25D-FF83-5433-80B2537D18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679943-AF4C-EFCA-AE33-D42DB6B36D92}"/>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4263443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CAAF6-3A37-2D73-D181-F6AB09ED480E}"/>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3" name="Footer Placeholder 2">
            <a:extLst>
              <a:ext uri="{FF2B5EF4-FFF2-40B4-BE49-F238E27FC236}">
                <a16:creationId xmlns:a16="http://schemas.microsoft.com/office/drawing/2014/main" id="{B1804898-7B38-1AA5-277F-E491F1B851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0DFF2D-A322-A199-F3CB-9355CCA8A95F}"/>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3841110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1756A-1250-ABBE-8E13-2C7F9D502A46}"/>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C84FC8-AB75-30C5-EB17-618BF786A79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FB1F0DA-24D1-B534-6139-76F125736B8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FBD5810-5640-4DD0-F40E-0CB8BF7E7E2F}"/>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6" name="Footer Placeholder 5">
            <a:extLst>
              <a:ext uri="{FF2B5EF4-FFF2-40B4-BE49-F238E27FC236}">
                <a16:creationId xmlns:a16="http://schemas.microsoft.com/office/drawing/2014/main" id="{564F8ED7-47C1-33CC-CBF2-8CD66D96B7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B3E83F-942A-4C66-7748-F8E923B6E826}"/>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10086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867B-DF3A-D0A4-8156-CFAFD243580B}"/>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72A73CB-1ADE-C85A-CFFB-BEA13D9C551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9EE9685-D46E-8857-40F1-DDCB412F957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8ACDA0B0-9A0C-AE7E-2AEC-39ECB78FB11F}"/>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6" name="Footer Placeholder 5">
            <a:extLst>
              <a:ext uri="{FF2B5EF4-FFF2-40B4-BE49-F238E27FC236}">
                <a16:creationId xmlns:a16="http://schemas.microsoft.com/office/drawing/2014/main" id="{D64A8447-3753-4F8A-C8C2-9FF03DA7D0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37614-354E-74D1-27EA-B162A008AD5C}"/>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1890129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5E45-B6A9-4880-E62C-9389B36E3D3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89E7E1F-D333-3A73-4E8A-68969C32346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AE8D7B-1EE9-1763-E6C5-962661232CEE}"/>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E8BBB85F-5A92-50BA-892D-3A1C4156C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028431-2856-7D0A-F61E-9E8090FEF307}"/>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2608364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01BAAB-DEC5-6CB0-CF0B-4F42500627BE}"/>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DC7FA7-F4B7-511A-C338-F042C0A758CC}"/>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056DBA-B4AD-C222-427E-1A7C8FE1969C}"/>
              </a:ext>
            </a:extLst>
          </p:cNvPr>
          <p:cNvSpPr>
            <a:spLocks noGrp="1"/>
          </p:cNvSpPr>
          <p:nvPr>
            <p:ph type="dt" sz="half" idx="10"/>
          </p:nvPr>
        </p:nvSpPr>
        <p:spPr/>
        <p:txBody>
          <a:body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DCA28FB6-D3FD-D346-30FB-A6E50DDD1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473805-D259-236E-28D8-B037BAE67107}"/>
              </a:ext>
            </a:extLst>
          </p:cNvPr>
          <p:cNvSpPr>
            <a:spLocks noGrp="1"/>
          </p:cNvSpPr>
          <p:nvPr>
            <p:ph type="sldNum" sz="quarter" idx="12"/>
          </p:nvPr>
        </p:nvSpPr>
        <p:spPr/>
        <p:txBody>
          <a:body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352607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140AFB-87B1-886D-03E1-395250221B9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33671FD-DC1D-6763-92C0-5866E2D7985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9EACFBE-F3A2-291B-F452-A3A335BBEEB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3/22/25</a:t>
            </a:fld>
            <a:endParaRPr lang="en-US"/>
          </a:p>
        </p:txBody>
      </p:sp>
      <p:sp>
        <p:nvSpPr>
          <p:cNvPr id="5" name="Footer Placeholder 4">
            <a:extLst>
              <a:ext uri="{FF2B5EF4-FFF2-40B4-BE49-F238E27FC236}">
                <a16:creationId xmlns:a16="http://schemas.microsoft.com/office/drawing/2014/main" id="{90A3AA6D-3113-7800-C253-09BFB346783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E76140-7DF4-A7EC-CF28-33113063F8C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ct val="100000"/>
              </a:lnSpc>
              <a:spcBef>
                <a:spcPts val="5"/>
              </a:spcBef>
            </a:pPr>
            <a:fld id="{81D60167-4931-47E6-BA6A-407CBD079E47}" type="slidenum">
              <a:rPr lang="en-IN" spc="-25" smtClean="0"/>
              <a:t>‹#›</a:t>
            </a:fld>
            <a:endParaRPr lang="en-IN" spc="-25" dirty="0"/>
          </a:p>
        </p:txBody>
      </p:sp>
    </p:spTree>
    <p:extLst>
      <p:ext uri="{BB962C8B-B14F-4D97-AF65-F5344CB8AC3E}">
        <p14:creationId xmlns:p14="http://schemas.microsoft.com/office/powerpoint/2010/main" val="246085865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universe.roboflow.com/stevens-institute-of-technology-xjltl/shoplifting-detection-oxvwp/model/1"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mdpi.com/2076-3417/13/14/8341" TargetMode="External"/><Relationship Id="rId4" Type="http://schemas.openxmlformats.org/officeDocument/2006/relationships/hyperlink" Target="https://www.kaggle.com/datasets/mateohervas/dcsass-dataset/cod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90817" y="1013761"/>
            <a:ext cx="5556885" cy="3678764"/>
          </a:xfrm>
          <a:prstGeom prst="rect">
            <a:avLst/>
          </a:prstGeom>
        </p:spPr>
        <p:txBody>
          <a:bodyPr vert="horz" wrap="square" lIns="0" tIns="119380" rIns="0" bIns="0" rtlCol="0">
            <a:spAutoFit/>
          </a:bodyPr>
          <a:lstStyle/>
          <a:p>
            <a:pPr marL="4445" algn="ctr">
              <a:lnSpc>
                <a:spcPct val="100000"/>
              </a:lnSpc>
              <a:spcBef>
                <a:spcPts val="940"/>
              </a:spcBef>
            </a:pPr>
            <a:r>
              <a:rPr sz="1400" b="1" spc="-10" dirty="0">
                <a:latin typeface="Times New Roman"/>
                <a:cs typeface="Times New Roman"/>
              </a:rPr>
              <a:t>SREENIDHI</a:t>
            </a:r>
            <a:r>
              <a:rPr sz="1400" b="1" spc="-30" dirty="0">
                <a:latin typeface="Times New Roman"/>
                <a:cs typeface="Times New Roman"/>
              </a:rPr>
              <a:t> </a:t>
            </a:r>
            <a:r>
              <a:rPr sz="1400" b="1" spc="-10" dirty="0">
                <a:latin typeface="Times New Roman"/>
                <a:cs typeface="Times New Roman"/>
              </a:rPr>
              <a:t>INSTITUTE</a:t>
            </a:r>
            <a:r>
              <a:rPr sz="1400" b="1" spc="-15" dirty="0">
                <a:latin typeface="Times New Roman"/>
                <a:cs typeface="Times New Roman"/>
              </a:rPr>
              <a:t> </a:t>
            </a:r>
            <a:r>
              <a:rPr sz="1400" b="1" dirty="0">
                <a:latin typeface="Times New Roman"/>
                <a:cs typeface="Times New Roman"/>
              </a:rPr>
              <a:t>OF</a:t>
            </a:r>
            <a:r>
              <a:rPr sz="1400" b="1" spc="-65" dirty="0">
                <a:latin typeface="Times New Roman"/>
                <a:cs typeface="Times New Roman"/>
              </a:rPr>
              <a:t> </a:t>
            </a:r>
            <a:r>
              <a:rPr sz="1400" b="1" spc="-20" dirty="0">
                <a:latin typeface="Times New Roman"/>
                <a:cs typeface="Times New Roman"/>
              </a:rPr>
              <a:t>SCIENCE</a:t>
            </a:r>
            <a:r>
              <a:rPr sz="1400" b="1" spc="-80" dirty="0">
                <a:latin typeface="Times New Roman"/>
                <a:cs typeface="Times New Roman"/>
              </a:rPr>
              <a:t> </a:t>
            </a:r>
            <a:r>
              <a:rPr sz="1400" b="1" dirty="0">
                <a:latin typeface="Times New Roman"/>
                <a:cs typeface="Times New Roman"/>
              </a:rPr>
              <a:t>AND</a:t>
            </a:r>
            <a:r>
              <a:rPr sz="1400" b="1" spc="-40" dirty="0">
                <a:latin typeface="Times New Roman"/>
                <a:cs typeface="Times New Roman"/>
              </a:rPr>
              <a:t> </a:t>
            </a:r>
            <a:r>
              <a:rPr sz="1400" b="1" spc="-10" dirty="0">
                <a:latin typeface="Times New Roman"/>
                <a:cs typeface="Times New Roman"/>
              </a:rPr>
              <a:t>TECHNOLOGY</a:t>
            </a:r>
            <a:endParaRPr sz="1400" dirty="0">
              <a:latin typeface="Times New Roman"/>
              <a:cs typeface="Times New Roman"/>
            </a:endParaRPr>
          </a:p>
          <a:p>
            <a:pPr marL="1416050" marR="1402715" indent="1270" algn="ctr">
              <a:lnSpc>
                <a:spcPct val="150000"/>
              </a:lnSpc>
            </a:pPr>
            <a:r>
              <a:rPr sz="1400" b="1" spc="-10" dirty="0">
                <a:latin typeface="Times New Roman"/>
                <a:cs typeface="Times New Roman"/>
              </a:rPr>
              <a:t>(An</a:t>
            </a:r>
            <a:r>
              <a:rPr sz="1400" b="1" spc="-80" dirty="0">
                <a:latin typeface="Times New Roman"/>
                <a:cs typeface="Times New Roman"/>
              </a:rPr>
              <a:t> </a:t>
            </a:r>
            <a:r>
              <a:rPr sz="1400" b="1" dirty="0">
                <a:latin typeface="Times New Roman"/>
                <a:cs typeface="Times New Roman"/>
              </a:rPr>
              <a:t>Autonomous</a:t>
            </a:r>
            <a:r>
              <a:rPr sz="1400" b="1" spc="-30" dirty="0">
                <a:latin typeface="Times New Roman"/>
                <a:cs typeface="Times New Roman"/>
              </a:rPr>
              <a:t> </a:t>
            </a:r>
            <a:r>
              <a:rPr sz="1400" b="1" spc="-10" dirty="0">
                <a:latin typeface="Times New Roman"/>
                <a:cs typeface="Times New Roman"/>
              </a:rPr>
              <a:t>Institution) </a:t>
            </a:r>
            <a:r>
              <a:rPr sz="1400" b="1" spc="-30" dirty="0">
                <a:latin typeface="Times New Roman"/>
                <a:cs typeface="Times New Roman"/>
              </a:rPr>
              <a:t>DEPARTMENT</a:t>
            </a:r>
            <a:r>
              <a:rPr sz="1400" b="1" spc="-35" dirty="0">
                <a:latin typeface="Times New Roman"/>
                <a:cs typeface="Times New Roman"/>
              </a:rPr>
              <a:t> </a:t>
            </a:r>
            <a:r>
              <a:rPr sz="1400" b="1" dirty="0">
                <a:latin typeface="Times New Roman"/>
                <a:cs typeface="Times New Roman"/>
              </a:rPr>
              <a:t>OF</a:t>
            </a:r>
            <a:r>
              <a:rPr sz="1400" b="1" spc="-55" dirty="0">
                <a:latin typeface="Times New Roman"/>
                <a:cs typeface="Times New Roman"/>
              </a:rPr>
              <a:t> </a:t>
            </a:r>
            <a:r>
              <a:rPr sz="1400" b="1" dirty="0">
                <a:latin typeface="Times New Roman"/>
                <a:cs typeface="Times New Roman"/>
              </a:rPr>
              <a:t>CSE-</a:t>
            </a:r>
            <a:r>
              <a:rPr sz="1400" b="1" spc="-80" dirty="0">
                <a:latin typeface="Times New Roman"/>
                <a:cs typeface="Times New Roman"/>
              </a:rPr>
              <a:t> </a:t>
            </a:r>
            <a:r>
              <a:rPr sz="1400" b="1" dirty="0">
                <a:latin typeface="Times New Roman"/>
                <a:cs typeface="Times New Roman"/>
              </a:rPr>
              <a:t>AI</a:t>
            </a:r>
            <a:r>
              <a:rPr sz="1400" b="1" spc="-10" dirty="0">
                <a:latin typeface="Times New Roman"/>
                <a:cs typeface="Times New Roman"/>
              </a:rPr>
              <a:t> </a:t>
            </a:r>
            <a:r>
              <a:rPr sz="1400" b="1" dirty="0">
                <a:latin typeface="Times New Roman"/>
                <a:cs typeface="Times New Roman"/>
              </a:rPr>
              <a:t>&amp; </a:t>
            </a:r>
            <a:r>
              <a:rPr sz="1400" b="1" spc="-25" dirty="0">
                <a:latin typeface="Times New Roman"/>
                <a:cs typeface="Times New Roman"/>
              </a:rPr>
              <a:t>ML</a:t>
            </a:r>
            <a:endParaRPr sz="1400" dirty="0">
              <a:latin typeface="Times New Roman"/>
              <a:cs typeface="Times New Roman"/>
            </a:endParaRPr>
          </a:p>
          <a:p>
            <a:pPr marL="5715" algn="ctr">
              <a:lnSpc>
                <a:spcPct val="100000"/>
              </a:lnSpc>
              <a:spcBef>
                <a:spcPts val="825"/>
              </a:spcBef>
            </a:pPr>
            <a:r>
              <a:rPr sz="1800" b="1" spc="-50" dirty="0">
                <a:latin typeface="Times New Roman"/>
                <a:cs typeface="Times New Roman"/>
              </a:rPr>
              <a:t>A</a:t>
            </a:r>
            <a:endParaRPr sz="1800" dirty="0">
              <a:latin typeface="Times New Roman"/>
              <a:cs typeface="Times New Roman"/>
            </a:endParaRPr>
          </a:p>
          <a:p>
            <a:pPr marL="1421130" marR="1409065" algn="ctr">
              <a:lnSpc>
                <a:spcPct val="100000"/>
              </a:lnSpc>
            </a:pPr>
            <a:r>
              <a:rPr sz="1800" b="1" spc="-10" dirty="0">
                <a:latin typeface="Times New Roman"/>
                <a:cs typeface="Times New Roman"/>
              </a:rPr>
              <a:t>Implementation</a:t>
            </a:r>
            <a:r>
              <a:rPr sz="1800" b="1" spc="-40" dirty="0">
                <a:latin typeface="Times New Roman"/>
                <a:cs typeface="Times New Roman"/>
              </a:rPr>
              <a:t> </a:t>
            </a:r>
            <a:r>
              <a:rPr sz="1800" b="1" spc="-10" dirty="0">
                <a:latin typeface="Times New Roman"/>
                <a:cs typeface="Times New Roman"/>
              </a:rPr>
              <a:t>Seminar</a:t>
            </a:r>
            <a:r>
              <a:rPr sz="1800" b="1" spc="-65" dirty="0">
                <a:latin typeface="Times New Roman"/>
                <a:cs typeface="Times New Roman"/>
              </a:rPr>
              <a:t> </a:t>
            </a:r>
            <a:r>
              <a:rPr sz="1800" b="1" dirty="0">
                <a:latin typeface="Times New Roman"/>
                <a:cs typeface="Times New Roman"/>
              </a:rPr>
              <a:t>-</a:t>
            </a:r>
            <a:r>
              <a:rPr sz="1800" b="1" spc="-25" dirty="0">
                <a:latin typeface="Times New Roman"/>
                <a:cs typeface="Times New Roman"/>
              </a:rPr>
              <a:t> </a:t>
            </a:r>
            <a:r>
              <a:rPr sz="1800" b="1" spc="-50" dirty="0">
                <a:latin typeface="Times New Roman"/>
                <a:cs typeface="Times New Roman"/>
              </a:rPr>
              <a:t>I </a:t>
            </a:r>
            <a:r>
              <a:rPr sz="1800" b="1" spc="-25" dirty="0">
                <a:latin typeface="Times New Roman"/>
                <a:cs typeface="Times New Roman"/>
              </a:rPr>
              <a:t>on</a:t>
            </a:r>
            <a:endParaRPr sz="1800" dirty="0">
              <a:latin typeface="Times New Roman"/>
              <a:cs typeface="Times New Roman"/>
            </a:endParaRPr>
          </a:p>
          <a:p>
            <a:pPr algn="ctr">
              <a:lnSpc>
                <a:spcPct val="100000"/>
              </a:lnSpc>
            </a:pPr>
            <a:r>
              <a:rPr lang="en-US" b="1" spc="-10" dirty="0">
                <a:solidFill>
                  <a:srgbClr val="002060"/>
                </a:solidFill>
                <a:latin typeface="Times New Roman"/>
                <a:cs typeface="Times New Roman"/>
              </a:rPr>
              <a:t>Retail Theft Detection using Deep Learning</a:t>
            </a:r>
            <a:endParaRPr sz="1800" dirty="0">
              <a:latin typeface="Times New Roman"/>
              <a:cs typeface="Times New Roman"/>
            </a:endParaRPr>
          </a:p>
          <a:p>
            <a:pPr>
              <a:lnSpc>
                <a:spcPct val="100000"/>
              </a:lnSpc>
              <a:spcBef>
                <a:spcPts val="85"/>
              </a:spcBef>
            </a:pPr>
            <a:endParaRPr sz="1800" dirty="0">
              <a:latin typeface="Times New Roman"/>
              <a:cs typeface="Times New Roman"/>
            </a:endParaRPr>
          </a:p>
          <a:p>
            <a:pPr marL="5715" algn="ctr">
              <a:lnSpc>
                <a:spcPct val="100000"/>
              </a:lnSpc>
              <a:spcBef>
                <a:spcPts val="5"/>
              </a:spcBef>
            </a:pPr>
            <a:r>
              <a:rPr sz="1800" b="1" spc="-25" dirty="0">
                <a:latin typeface="Times New Roman"/>
                <a:cs typeface="Times New Roman"/>
              </a:rPr>
              <a:t>BY</a:t>
            </a:r>
            <a:endParaRPr sz="1800" dirty="0">
              <a:latin typeface="Times New Roman"/>
              <a:cs typeface="Times New Roman"/>
            </a:endParaRPr>
          </a:p>
          <a:p>
            <a:pPr marL="645160" marR="629920" algn="ctr">
              <a:lnSpc>
                <a:spcPct val="147600"/>
              </a:lnSpc>
              <a:spcBef>
                <a:spcPts val="15"/>
              </a:spcBef>
            </a:pPr>
            <a:r>
              <a:rPr lang="en-US" sz="1400" b="1" spc="-35" dirty="0">
                <a:solidFill>
                  <a:srgbClr val="002060"/>
                </a:solidFill>
                <a:latin typeface="Times New Roman"/>
                <a:cs typeface="Times New Roman"/>
              </a:rPr>
              <a:t>CHERUPALLY ABHINAY </a:t>
            </a:r>
            <a:r>
              <a:rPr sz="1400" b="1" spc="-10" dirty="0">
                <a:solidFill>
                  <a:srgbClr val="002060"/>
                </a:solidFill>
                <a:latin typeface="Times New Roman"/>
                <a:cs typeface="Times New Roman"/>
              </a:rPr>
              <a:t>(21311A66</a:t>
            </a:r>
            <a:r>
              <a:rPr lang="en-US" sz="1400" b="1" spc="-10" dirty="0">
                <a:solidFill>
                  <a:srgbClr val="002060"/>
                </a:solidFill>
                <a:latin typeface="Times New Roman"/>
                <a:cs typeface="Times New Roman"/>
              </a:rPr>
              <a:t>24)</a:t>
            </a:r>
          </a:p>
          <a:p>
            <a:pPr marL="645160" marR="629920" algn="ctr">
              <a:lnSpc>
                <a:spcPct val="147600"/>
              </a:lnSpc>
              <a:spcBef>
                <a:spcPts val="15"/>
              </a:spcBef>
            </a:pPr>
            <a:r>
              <a:rPr lang="en-IN" sz="1400" b="1" spc="-30" dirty="0">
                <a:solidFill>
                  <a:srgbClr val="002060"/>
                </a:solidFill>
                <a:latin typeface="Times New Roman"/>
                <a:cs typeface="Times New Roman"/>
              </a:rPr>
              <a:t>BOGGULA NAGA KRISHNA REDDY </a:t>
            </a:r>
            <a:r>
              <a:rPr lang="en-IN" sz="1400" b="1" spc="-25" dirty="0">
                <a:solidFill>
                  <a:srgbClr val="002060"/>
                </a:solidFill>
                <a:latin typeface="Times New Roman"/>
                <a:cs typeface="Times New Roman"/>
              </a:rPr>
              <a:t> </a:t>
            </a:r>
            <a:r>
              <a:rPr lang="en-IN" sz="1400" b="1" spc="-10" dirty="0">
                <a:solidFill>
                  <a:srgbClr val="002060"/>
                </a:solidFill>
                <a:latin typeface="Times New Roman"/>
                <a:cs typeface="Times New Roman"/>
              </a:rPr>
              <a:t>(</a:t>
            </a:r>
            <a:r>
              <a:rPr sz="1400" b="1" spc="-10" dirty="0">
                <a:solidFill>
                  <a:srgbClr val="002060"/>
                </a:solidFill>
                <a:latin typeface="Times New Roman"/>
                <a:cs typeface="Times New Roman"/>
              </a:rPr>
              <a:t>21311A660</a:t>
            </a:r>
            <a:r>
              <a:rPr lang="en-US" sz="1400" b="1" spc="-10" dirty="0">
                <a:solidFill>
                  <a:srgbClr val="002060"/>
                </a:solidFill>
                <a:latin typeface="Times New Roman"/>
                <a:cs typeface="Times New Roman"/>
              </a:rPr>
              <a:t>8</a:t>
            </a:r>
            <a:r>
              <a:rPr sz="1400" b="1" spc="-10" dirty="0">
                <a:solidFill>
                  <a:srgbClr val="002060"/>
                </a:solidFill>
                <a:latin typeface="Times New Roman"/>
                <a:cs typeface="Times New Roman"/>
              </a:rPr>
              <a:t>) </a:t>
            </a:r>
            <a:r>
              <a:rPr lang="en-US" sz="1400" b="1" spc="-20" dirty="0">
                <a:solidFill>
                  <a:srgbClr val="002060"/>
                </a:solidFill>
                <a:latin typeface="Times New Roman"/>
                <a:cs typeface="Times New Roman"/>
              </a:rPr>
              <a:t>KACHU REVANTH </a:t>
            </a:r>
            <a:r>
              <a:rPr sz="1400" b="1" spc="-10" dirty="0">
                <a:solidFill>
                  <a:srgbClr val="002060"/>
                </a:solidFill>
                <a:latin typeface="Times New Roman"/>
                <a:cs typeface="Times New Roman"/>
              </a:rPr>
              <a:t>(21311A66</a:t>
            </a:r>
            <a:r>
              <a:rPr lang="en-US" sz="1400" b="1" spc="-10" dirty="0">
                <a:solidFill>
                  <a:srgbClr val="002060"/>
                </a:solidFill>
                <a:latin typeface="Times New Roman"/>
                <a:cs typeface="Times New Roman"/>
              </a:rPr>
              <a:t>2</a:t>
            </a:r>
            <a:r>
              <a:rPr sz="1400" b="1" spc="-10" dirty="0">
                <a:solidFill>
                  <a:srgbClr val="002060"/>
                </a:solidFill>
                <a:latin typeface="Times New Roman"/>
                <a:cs typeface="Times New Roman"/>
              </a:rPr>
              <a:t>8)</a:t>
            </a:r>
            <a:endParaRPr sz="1400" dirty="0">
              <a:latin typeface="Times New Roman"/>
              <a:cs typeface="Times New Roman"/>
            </a:endParaRPr>
          </a:p>
        </p:txBody>
      </p:sp>
      <p:sp>
        <p:nvSpPr>
          <p:cNvPr id="3" name="object 3"/>
          <p:cNvSpPr txBox="1"/>
          <p:nvPr/>
        </p:nvSpPr>
        <p:spPr>
          <a:xfrm>
            <a:off x="73025" y="4957874"/>
            <a:ext cx="2138680" cy="665480"/>
          </a:xfrm>
          <a:prstGeom prst="rect">
            <a:avLst/>
          </a:prstGeom>
        </p:spPr>
        <p:txBody>
          <a:bodyPr vert="horz" wrap="square" lIns="0" tIns="12700" rIns="0" bIns="0" rtlCol="0">
            <a:spAutoFit/>
          </a:bodyPr>
          <a:lstStyle/>
          <a:p>
            <a:pPr marL="12700" marR="637540">
              <a:lnSpc>
                <a:spcPct val="100000"/>
              </a:lnSpc>
              <a:spcBef>
                <a:spcPts val="100"/>
              </a:spcBef>
            </a:pPr>
            <a:r>
              <a:rPr sz="1400" b="1" spc="-40" dirty="0">
                <a:latin typeface="Times New Roman"/>
                <a:cs typeface="Times New Roman"/>
              </a:rPr>
              <a:t>Mr.</a:t>
            </a:r>
            <a:r>
              <a:rPr sz="1400" b="1" spc="-20" dirty="0">
                <a:latin typeface="Times New Roman"/>
                <a:cs typeface="Times New Roman"/>
              </a:rPr>
              <a:t> </a:t>
            </a:r>
            <a:r>
              <a:rPr sz="1400" b="1" dirty="0">
                <a:latin typeface="Times New Roman"/>
                <a:cs typeface="Times New Roman"/>
              </a:rPr>
              <a:t>G</a:t>
            </a:r>
            <a:r>
              <a:rPr sz="1400" b="1" spc="-20" dirty="0">
                <a:latin typeface="Times New Roman"/>
                <a:cs typeface="Times New Roman"/>
              </a:rPr>
              <a:t> </a:t>
            </a:r>
            <a:r>
              <a:rPr sz="1400" b="1" spc="-10" dirty="0">
                <a:latin typeface="Times New Roman"/>
                <a:cs typeface="Times New Roman"/>
              </a:rPr>
              <a:t>Ravi, </a:t>
            </a:r>
            <a:r>
              <a:rPr sz="1400" b="1" dirty="0">
                <a:latin typeface="Times New Roman"/>
                <a:cs typeface="Times New Roman"/>
              </a:rPr>
              <a:t>Assistant</a:t>
            </a:r>
            <a:r>
              <a:rPr sz="1400" b="1" spc="-55" dirty="0">
                <a:latin typeface="Times New Roman"/>
                <a:cs typeface="Times New Roman"/>
              </a:rPr>
              <a:t> </a:t>
            </a:r>
            <a:r>
              <a:rPr sz="1400" b="1" spc="-25" dirty="0">
                <a:latin typeface="Times New Roman"/>
                <a:cs typeface="Times New Roman"/>
              </a:rPr>
              <a:t>Professor,</a:t>
            </a:r>
            <a:endParaRPr sz="1400">
              <a:latin typeface="Times New Roman"/>
              <a:cs typeface="Times New Roman"/>
            </a:endParaRPr>
          </a:p>
          <a:p>
            <a:pPr marL="12700">
              <a:lnSpc>
                <a:spcPct val="100000"/>
              </a:lnSpc>
            </a:pPr>
            <a:r>
              <a:rPr sz="1400" b="1" dirty="0">
                <a:latin typeface="Times New Roman"/>
                <a:cs typeface="Times New Roman"/>
              </a:rPr>
              <a:t>Group</a:t>
            </a:r>
            <a:r>
              <a:rPr sz="1400" b="1" spc="-55" dirty="0">
                <a:latin typeface="Times New Roman"/>
                <a:cs typeface="Times New Roman"/>
              </a:rPr>
              <a:t> </a:t>
            </a:r>
            <a:r>
              <a:rPr sz="1400" b="1" dirty="0">
                <a:latin typeface="Times New Roman"/>
                <a:cs typeface="Times New Roman"/>
              </a:rPr>
              <a:t>Project</a:t>
            </a:r>
            <a:r>
              <a:rPr sz="1400" b="1" spc="-50" dirty="0">
                <a:latin typeface="Times New Roman"/>
                <a:cs typeface="Times New Roman"/>
              </a:rPr>
              <a:t> </a:t>
            </a:r>
            <a:r>
              <a:rPr sz="1400" b="1" spc="-10" dirty="0">
                <a:latin typeface="Times New Roman"/>
                <a:cs typeface="Times New Roman"/>
              </a:rPr>
              <a:t>Coordinator,</a:t>
            </a:r>
            <a:endParaRPr sz="1400">
              <a:latin typeface="Times New Roman"/>
              <a:cs typeface="Times New Roman"/>
            </a:endParaRPr>
          </a:p>
        </p:txBody>
      </p:sp>
      <p:sp>
        <p:nvSpPr>
          <p:cNvPr id="4" name="object 4"/>
          <p:cNvSpPr txBox="1"/>
          <p:nvPr/>
        </p:nvSpPr>
        <p:spPr>
          <a:xfrm>
            <a:off x="2714625" y="4957874"/>
            <a:ext cx="2908935" cy="665480"/>
          </a:xfrm>
          <a:prstGeom prst="rect">
            <a:avLst/>
          </a:prstGeom>
        </p:spPr>
        <p:txBody>
          <a:bodyPr vert="horz" wrap="square" lIns="0" tIns="12700" rIns="0" bIns="0" rtlCol="0">
            <a:spAutoFit/>
          </a:bodyPr>
          <a:lstStyle/>
          <a:p>
            <a:pPr marL="44450">
              <a:lnSpc>
                <a:spcPct val="100000"/>
              </a:lnSpc>
              <a:spcBef>
                <a:spcPts val="100"/>
              </a:spcBef>
            </a:pPr>
            <a:r>
              <a:rPr sz="1400" b="1" spc="-40" dirty="0" err="1">
                <a:latin typeface="Times New Roman"/>
                <a:cs typeface="Times New Roman"/>
              </a:rPr>
              <a:t>Mr</a:t>
            </a:r>
            <a:r>
              <a:rPr lang="en-US" sz="1400" b="1" spc="-40" dirty="0" err="1">
                <a:latin typeface="Times New Roman"/>
                <a:cs typeface="Times New Roman"/>
              </a:rPr>
              <a:t>s</a:t>
            </a:r>
            <a:r>
              <a:rPr lang="en-US" sz="1400" b="1" spc="-40" dirty="0">
                <a:latin typeface="Times New Roman"/>
                <a:cs typeface="Times New Roman"/>
              </a:rPr>
              <a:t> . </a:t>
            </a:r>
            <a:r>
              <a:rPr lang="en-US" sz="1400" b="1" spc="-40" dirty="0" err="1">
                <a:latin typeface="Times New Roman"/>
                <a:cs typeface="Times New Roman"/>
              </a:rPr>
              <a:t>Kovvuri</a:t>
            </a:r>
            <a:r>
              <a:rPr lang="en-US" sz="1400" b="1" spc="-40" dirty="0">
                <a:latin typeface="Times New Roman"/>
                <a:cs typeface="Times New Roman"/>
              </a:rPr>
              <a:t> </a:t>
            </a:r>
            <a:r>
              <a:rPr lang="en-US" sz="1400" b="1" spc="-40" dirty="0" err="1">
                <a:latin typeface="Times New Roman"/>
                <a:cs typeface="Times New Roman"/>
              </a:rPr>
              <a:t>Divya</a:t>
            </a:r>
            <a:r>
              <a:rPr lang="en-US" sz="1400" b="1" spc="-40" dirty="0">
                <a:latin typeface="Times New Roman"/>
                <a:cs typeface="Times New Roman"/>
              </a:rPr>
              <a:t> </a:t>
            </a:r>
            <a:r>
              <a:rPr lang="en-US" sz="1400" b="1" spc="-40" dirty="0" err="1">
                <a:latin typeface="Times New Roman"/>
                <a:cs typeface="Times New Roman"/>
              </a:rPr>
              <a:t>sri</a:t>
            </a:r>
            <a:endParaRPr sz="1400" dirty="0">
              <a:latin typeface="Times New Roman"/>
              <a:cs typeface="Times New Roman"/>
            </a:endParaRPr>
          </a:p>
          <a:p>
            <a:pPr marL="12700" marR="5080">
              <a:lnSpc>
                <a:spcPct val="100000"/>
              </a:lnSpc>
            </a:pPr>
            <a:r>
              <a:rPr sz="1400" b="1" dirty="0">
                <a:latin typeface="Times New Roman"/>
                <a:cs typeface="Times New Roman"/>
              </a:rPr>
              <a:t>Internal</a:t>
            </a:r>
            <a:r>
              <a:rPr sz="1400" b="1" spc="-55" dirty="0">
                <a:latin typeface="Times New Roman"/>
                <a:cs typeface="Times New Roman"/>
              </a:rPr>
              <a:t> </a:t>
            </a:r>
            <a:r>
              <a:rPr sz="1400" b="1" dirty="0">
                <a:latin typeface="Times New Roman"/>
                <a:cs typeface="Times New Roman"/>
              </a:rPr>
              <a:t>guide,</a:t>
            </a:r>
            <a:r>
              <a:rPr sz="1400" b="1" spc="-90" dirty="0">
                <a:latin typeface="Times New Roman"/>
                <a:cs typeface="Times New Roman"/>
              </a:rPr>
              <a:t> </a:t>
            </a:r>
            <a:r>
              <a:rPr sz="1400" b="1" dirty="0">
                <a:latin typeface="Times New Roman"/>
                <a:cs typeface="Times New Roman"/>
              </a:rPr>
              <a:t>Assistant</a:t>
            </a:r>
            <a:r>
              <a:rPr sz="1400" b="1" spc="-30" dirty="0">
                <a:latin typeface="Times New Roman"/>
                <a:cs typeface="Times New Roman"/>
              </a:rPr>
              <a:t> </a:t>
            </a:r>
            <a:r>
              <a:rPr sz="1400" b="1" spc="-10" dirty="0">
                <a:latin typeface="Times New Roman"/>
                <a:cs typeface="Times New Roman"/>
              </a:rPr>
              <a:t>Professor, </a:t>
            </a:r>
            <a:r>
              <a:rPr sz="1400" b="1" dirty="0">
                <a:latin typeface="Times New Roman"/>
                <a:cs typeface="Times New Roman"/>
              </a:rPr>
              <a:t>Department</a:t>
            </a:r>
            <a:r>
              <a:rPr sz="1400" b="1" spc="-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20" dirty="0">
                <a:latin typeface="Times New Roman"/>
                <a:cs typeface="Times New Roman"/>
              </a:rPr>
              <a:t>CSE-</a:t>
            </a:r>
            <a:r>
              <a:rPr sz="1400" b="1" dirty="0">
                <a:latin typeface="Times New Roman"/>
                <a:cs typeface="Times New Roman"/>
              </a:rPr>
              <a:t>AI</a:t>
            </a:r>
            <a:r>
              <a:rPr sz="1400" b="1" spc="-10" dirty="0">
                <a:latin typeface="Times New Roman"/>
                <a:cs typeface="Times New Roman"/>
              </a:rPr>
              <a:t> </a:t>
            </a:r>
            <a:r>
              <a:rPr sz="1400" b="1" dirty="0">
                <a:latin typeface="Times New Roman"/>
                <a:cs typeface="Times New Roman"/>
              </a:rPr>
              <a:t>&amp; ML,</a:t>
            </a:r>
            <a:r>
              <a:rPr sz="1400" b="1" spc="-5" dirty="0">
                <a:latin typeface="Times New Roman"/>
                <a:cs typeface="Times New Roman"/>
              </a:rPr>
              <a:t> </a:t>
            </a:r>
            <a:r>
              <a:rPr sz="1400" b="1" spc="-10" dirty="0">
                <a:latin typeface="Times New Roman"/>
                <a:cs typeface="Times New Roman"/>
              </a:rPr>
              <a:t>SNIST</a:t>
            </a:r>
            <a:endParaRPr sz="1400" dirty="0">
              <a:latin typeface="Times New Roman"/>
              <a:cs typeface="Times New Roman"/>
            </a:endParaRPr>
          </a:p>
        </p:txBody>
      </p:sp>
      <p:sp>
        <p:nvSpPr>
          <p:cNvPr id="5" name="object 5"/>
          <p:cNvSpPr txBox="1"/>
          <p:nvPr/>
        </p:nvSpPr>
        <p:spPr>
          <a:xfrm>
            <a:off x="6181725" y="4957874"/>
            <a:ext cx="2368550" cy="665480"/>
          </a:xfrm>
          <a:prstGeom prst="rect">
            <a:avLst/>
          </a:prstGeom>
        </p:spPr>
        <p:txBody>
          <a:bodyPr vert="horz" wrap="square" lIns="0" tIns="12700" rIns="0" bIns="0" rtlCol="0">
            <a:spAutoFit/>
          </a:bodyPr>
          <a:lstStyle/>
          <a:p>
            <a:pPr marL="12700" marR="997585" indent="12700">
              <a:lnSpc>
                <a:spcPct val="100000"/>
              </a:lnSpc>
              <a:spcBef>
                <a:spcPts val="100"/>
              </a:spcBef>
            </a:pPr>
            <a:r>
              <a:rPr sz="1400" b="1" dirty="0">
                <a:latin typeface="Times New Roman"/>
                <a:cs typeface="Times New Roman"/>
              </a:rPr>
              <a:t>Dr</a:t>
            </a:r>
            <a:r>
              <a:rPr sz="1400" b="1" spc="-45" dirty="0">
                <a:latin typeface="Times New Roman"/>
                <a:cs typeface="Times New Roman"/>
              </a:rPr>
              <a:t> </a:t>
            </a:r>
            <a:r>
              <a:rPr sz="1400" b="1" dirty="0">
                <a:latin typeface="Times New Roman"/>
                <a:cs typeface="Times New Roman"/>
              </a:rPr>
              <a:t>K</a:t>
            </a:r>
            <a:r>
              <a:rPr sz="1400" b="1" spc="-15" dirty="0">
                <a:latin typeface="Times New Roman"/>
                <a:cs typeface="Times New Roman"/>
              </a:rPr>
              <a:t> </a:t>
            </a:r>
            <a:r>
              <a:rPr sz="1400" b="1" spc="-10" dirty="0">
                <a:latin typeface="Times New Roman"/>
                <a:cs typeface="Times New Roman"/>
              </a:rPr>
              <a:t>Shirisha, Professor</a:t>
            </a:r>
            <a:r>
              <a:rPr sz="1400" b="1" spc="-40" dirty="0">
                <a:latin typeface="Times New Roman"/>
                <a:cs typeface="Times New Roman"/>
              </a:rPr>
              <a:t> </a:t>
            </a:r>
            <a:r>
              <a:rPr sz="1400" b="1" dirty="0">
                <a:latin typeface="Times New Roman"/>
                <a:cs typeface="Times New Roman"/>
              </a:rPr>
              <a:t>&amp;</a:t>
            </a:r>
            <a:r>
              <a:rPr sz="1400" b="1" spc="-10" dirty="0">
                <a:latin typeface="Times New Roman"/>
                <a:cs typeface="Times New Roman"/>
              </a:rPr>
              <a:t> </a:t>
            </a:r>
            <a:r>
              <a:rPr sz="1400" b="1" spc="-20" dirty="0">
                <a:latin typeface="Times New Roman"/>
                <a:cs typeface="Times New Roman"/>
              </a:rPr>
              <a:t>HoD,</a:t>
            </a:r>
            <a:endParaRPr sz="1400">
              <a:latin typeface="Times New Roman"/>
              <a:cs typeface="Times New Roman"/>
            </a:endParaRPr>
          </a:p>
          <a:p>
            <a:pPr marL="24765">
              <a:lnSpc>
                <a:spcPct val="100000"/>
              </a:lnSpc>
            </a:pPr>
            <a:r>
              <a:rPr sz="1400" b="1" dirty="0">
                <a:latin typeface="Times New Roman"/>
                <a:cs typeface="Times New Roman"/>
              </a:rPr>
              <a:t>Dept</a:t>
            </a:r>
            <a:r>
              <a:rPr sz="1400" b="1" spc="-5" dirty="0">
                <a:latin typeface="Times New Roman"/>
                <a:cs typeface="Times New Roman"/>
              </a:rPr>
              <a:t> </a:t>
            </a:r>
            <a:r>
              <a:rPr sz="1400" b="1" dirty="0">
                <a:latin typeface="Times New Roman"/>
                <a:cs typeface="Times New Roman"/>
              </a:rPr>
              <a:t>of</a:t>
            </a:r>
            <a:r>
              <a:rPr sz="1400" b="1" spc="-5" dirty="0">
                <a:latin typeface="Times New Roman"/>
                <a:cs typeface="Times New Roman"/>
              </a:rPr>
              <a:t> </a:t>
            </a:r>
            <a:r>
              <a:rPr sz="1400" b="1" spc="-20" dirty="0">
                <a:latin typeface="Times New Roman"/>
                <a:cs typeface="Times New Roman"/>
              </a:rPr>
              <a:t>CSE-</a:t>
            </a:r>
            <a:r>
              <a:rPr sz="1400" b="1" dirty="0">
                <a:latin typeface="Times New Roman"/>
                <a:cs typeface="Times New Roman"/>
              </a:rPr>
              <a:t>AI</a:t>
            </a:r>
            <a:r>
              <a:rPr sz="1400" b="1" spc="-10" dirty="0">
                <a:latin typeface="Times New Roman"/>
                <a:cs typeface="Times New Roman"/>
              </a:rPr>
              <a:t> </a:t>
            </a:r>
            <a:r>
              <a:rPr sz="1400" b="1" dirty="0">
                <a:latin typeface="Times New Roman"/>
                <a:cs typeface="Times New Roman"/>
              </a:rPr>
              <a:t>&amp; ML,</a:t>
            </a:r>
            <a:r>
              <a:rPr sz="1400" b="1" spc="-5" dirty="0">
                <a:latin typeface="Times New Roman"/>
                <a:cs typeface="Times New Roman"/>
              </a:rPr>
              <a:t> </a:t>
            </a:r>
            <a:r>
              <a:rPr sz="1400" b="1" spc="-10" dirty="0">
                <a:latin typeface="Times New Roman"/>
                <a:cs typeface="Times New Roman"/>
              </a:rPr>
              <a:t>SNIST</a:t>
            </a:r>
            <a:endParaRPr sz="1400">
              <a:latin typeface="Times New Roman"/>
              <a:cs typeface="Times New Roman"/>
            </a:endParaRPr>
          </a:p>
        </p:txBody>
      </p:sp>
      <p:sp>
        <p:nvSpPr>
          <p:cNvPr id="6" name="object 6"/>
          <p:cNvSpPr txBox="1"/>
          <p:nvPr/>
        </p:nvSpPr>
        <p:spPr>
          <a:xfrm>
            <a:off x="73025" y="5597954"/>
            <a:ext cx="2750820" cy="238760"/>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a:cs typeface="Times New Roman"/>
              </a:rPr>
              <a:t>Department,</a:t>
            </a:r>
            <a:r>
              <a:rPr sz="1400" b="1" spc="5" dirty="0">
                <a:latin typeface="Times New Roman"/>
                <a:cs typeface="Times New Roman"/>
              </a:rPr>
              <a:t> </a:t>
            </a:r>
            <a:r>
              <a:rPr sz="1400" b="1" spc="-20" dirty="0">
                <a:latin typeface="Times New Roman"/>
                <a:cs typeface="Times New Roman"/>
              </a:rPr>
              <a:t>CSE-</a:t>
            </a:r>
            <a:r>
              <a:rPr sz="1400" b="1" dirty="0">
                <a:latin typeface="Times New Roman"/>
                <a:cs typeface="Times New Roman"/>
              </a:rPr>
              <a:t>AI &amp;</a:t>
            </a:r>
            <a:r>
              <a:rPr sz="1400" b="1" spc="5" dirty="0">
                <a:latin typeface="Times New Roman"/>
                <a:cs typeface="Times New Roman"/>
              </a:rPr>
              <a:t> </a:t>
            </a:r>
            <a:r>
              <a:rPr sz="1400" b="1" spc="-20" dirty="0">
                <a:latin typeface="Times New Roman"/>
                <a:cs typeface="Times New Roman"/>
              </a:rPr>
              <a:t>ML</a:t>
            </a:r>
            <a:r>
              <a:rPr sz="1400" b="1" spc="-80" dirty="0">
                <a:latin typeface="Times New Roman"/>
                <a:cs typeface="Times New Roman"/>
              </a:rPr>
              <a:t> </a:t>
            </a:r>
            <a:r>
              <a:rPr sz="1400" b="1" spc="-10" dirty="0">
                <a:latin typeface="Times New Roman"/>
                <a:cs typeface="Times New Roman"/>
              </a:rPr>
              <a:t>,SNIST</a:t>
            </a:r>
            <a:endParaRPr sz="1400">
              <a:latin typeface="Times New Roman"/>
              <a:cs typeface="Times New Roman"/>
            </a:endParaRPr>
          </a:p>
        </p:txBody>
      </p:sp>
      <p:pic>
        <p:nvPicPr>
          <p:cNvPr id="7" name="object 7"/>
          <p:cNvPicPr/>
          <p:nvPr/>
        </p:nvPicPr>
        <p:blipFill>
          <a:blip r:embed="rId2" cstate="print"/>
          <a:stretch>
            <a:fillRect/>
          </a:stretch>
        </p:blipFill>
        <p:spPr>
          <a:xfrm>
            <a:off x="3390900" y="111974"/>
            <a:ext cx="2666999" cy="7957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274638"/>
            <a:ext cx="8229600" cy="654051"/>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0" i="0" u="sng"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Abstract</a:t>
            </a:r>
            <a:endParaRPr kumimoji="0" lang="en-IN" sz="2800" b="0" i="0" u="sng"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12290" name="Content Placeholder 2"/>
          <p:cNvSpPr>
            <a:spLocks noGrp="1"/>
          </p:cNvSpPr>
          <p:nvPr>
            <p:ph idx="1"/>
          </p:nvPr>
        </p:nvSpPr>
        <p:spPr>
          <a:xfrm>
            <a:off x="371475" y="993845"/>
            <a:ext cx="8401050" cy="5643563"/>
          </a:xfrm>
          <a:ln/>
        </p:spPr>
        <p:txBody>
          <a:bodyPr vert="horz" wrap="square" lIns="91440" tIns="45720" rIns="91440" bIns="45720" anchor="t" anchorCtr="0"/>
          <a:lstStyle/>
          <a:p>
            <a:pPr algn="just" eaLnBrk="1" hangingPunct="1">
              <a:lnSpc>
                <a:spcPct val="150000"/>
              </a:lnSpc>
            </a:pPr>
            <a:r>
              <a:rPr lang="en-US" sz="1600" dirty="0">
                <a:latin typeface="Times New Roman" panose="02020603050405020304" pitchFamily="18" charset="0"/>
                <a:cs typeface="Times New Roman" panose="02020603050405020304" pitchFamily="18" charset="0"/>
              </a:rPr>
              <a:t>Shoplifting is a significant concern for retailers, leading to substantial financial losses annually. Traditional security measures, such as CCTV surveillance and human monitoring, often fail to provide real-time intervention due to their dependence on manual oversight. This project proposes an </a:t>
            </a:r>
            <a:r>
              <a:rPr lang="en-US" sz="1600" b="1" dirty="0">
                <a:latin typeface="Times New Roman" panose="02020603050405020304" pitchFamily="18" charset="0"/>
                <a:cs typeface="Times New Roman" panose="02020603050405020304" pitchFamily="18" charset="0"/>
              </a:rPr>
              <a:t>automated shoplifting detection system</a:t>
            </a:r>
            <a:r>
              <a:rPr lang="en-US" sz="1600" dirty="0">
                <a:latin typeface="Times New Roman" panose="02020603050405020304" pitchFamily="18" charset="0"/>
                <a:cs typeface="Times New Roman" panose="02020603050405020304" pitchFamily="18" charset="0"/>
              </a:rPr>
              <a:t> leveraging </a:t>
            </a:r>
            <a:r>
              <a:rPr lang="en-US" sz="1600" b="1" dirty="0">
                <a:latin typeface="Times New Roman" panose="02020603050405020304" pitchFamily="18" charset="0"/>
                <a:cs typeface="Times New Roman" panose="02020603050405020304" pitchFamily="18" charset="0"/>
              </a:rPr>
              <a:t>YOLOv8 (You Only Look Once) for real-time object detection, </a:t>
            </a:r>
            <a:r>
              <a:rPr lang="en-US" sz="1600" b="1" dirty="0" err="1">
                <a:latin typeface="Times New Roman" panose="02020603050405020304" pitchFamily="18" charset="0"/>
                <a:cs typeface="Times New Roman" panose="02020603050405020304" pitchFamily="18" charset="0"/>
              </a:rPr>
              <a:t>DeepSORT</a:t>
            </a:r>
            <a:r>
              <a:rPr lang="en-US" sz="1600" b="1" dirty="0">
                <a:latin typeface="Times New Roman" panose="02020603050405020304" pitchFamily="18" charset="0"/>
                <a:cs typeface="Times New Roman" panose="02020603050405020304" pitchFamily="18" charset="0"/>
              </a:rPr>
              <a:t> for identity tracking, and OpenCV for video processing</a:t>
            </a:r>
            <a:r>
              <a:rPr lang="en-US" sz="1600" dirty="0">
                <a:latin typeface="Times New Roman" panose="02020603050405020304" pitchFamily="18" charset="0"/>
                <a:cs typeface="Times New Roman" panose="02020603050405020304" pitchFamily="18" charset="0"/>
              </a:rPr>
              <a:t>. The system is designed to detect suspicious behaviors such as </a:t>
            </a:r>
            <a:r>
              <a:rPr lang="en-US" sz="1600" b="1" dirty="0">
                <a:latin typeface="Times New Roman" panose="02020603050405020304" pitchFamily="18" charset="0"/>
                <a:cs typeface="Times New Roman" panose="02020603050405020304" pitchFamily="18" charset="0"/>
              </a:rPr>
              <a:t>loitering</a:t>
            </a:r>
            <a:r>
              <a:rPr lang="en-US" sz="1600" dirty="0">
                <a:latin typeface="Times New Roman" panose="02020603050405020304" pitchFamily="18" charset="0"/>
                <a:cs typeface="Times New Roman" panose="02020603050405020304" pitchFamily="18" charset="0"/>
              </a:rPr>
              <a:t> (staying in a particular area for an extended period) and </a:t>
            </a:r>
            <a:r>
              <a:rPr lang="en-US" sz="1600" b="1" dirty="0">
                <a:latin typeface="Times New Roman" panose="02020603050405020304" pitchFamily="18" charset="0"/>
                <a:cs typeface="Times New Roman" panose="02020603050405020304" pitchFamily="18" charset="0"/>
              </a:rPr>
              <a:t>concealment</a:t>
            </a:r>
            <a:r>
              <a:rPr lang="en-US" sz="1600" dirty="0">
                <a:latin typeface="Times New Roman" panose="02020603050405020304" pitchFamily="18" charset="0"/>
                <a:cs typeface="Times New Roman" panose="02020603050405020304" pitchFamily="18" charset="0"/>
              </a:rPr>
              <a:t> (placing an item close to the body or within clothing). By integrating advanced deep learning and computer vision techniques, the system enhances security surveillance by providing </a:t>
            </a:r>
            <a:r>
              <a:rPr lang="en-US" sz="1600" b="1" dirty="0">
                <a:latin typeface="Times New Roman" panose="02020603050405020304" pitchFamily="18" charset="0"/>
                <a:cs typeface="Times New Roman" panose="02020603050405020304" pitchFamily="18" charset="0"/>
              </a:rPr>
              <a:t>real-time alerts and tracking movements of individuals and objects</a:t>
            </a:r>
            <a:r>
              <a:rPr lang="en-US" sz="1600" dirty="0">
                <a:latin typeface="Times New Roman" panose="02020603050405020304" pitchFamily="18" charset="0"/>
                <a:cs typeface="Times New Roman" panose="02020603050405020304" pitchFamily="18" charset="0"/>
              </a:rPr>
              <a:t> within a retail store environment. The implementation can run on </a:t>
            </a:r>
            <a:r>
              <a:rPr lang="en-US" sz="1600" b="1" dirty="0">
                <a:latin typeface="Times New Roman" panose="02020603050405020304" pitchFamily="18" charset="0"/>
                <a:cs typeface="Times New Roman" panose="02020603050405020304" pitchFamily="18" charset="0"/>
              </a:rPr>
              <a:t>both CPU and GPU</a:t>
            </a:r>
            <a:r>
              <a:rPr lang="en-US" sz="1600" dirty="0">
                <a:latin typeface="Times New Roman" panose="02020603050405020304" pitchFamily="18" charset="0"/>
                <a:cs typeface="Times New Roman" panose="02020603050405020304" pitchFamily="18" charset="0"/>
              </a:rPr>
              <a:t>, making it suitable for deployment on various hardware configurations. This solution aims to improve loss prevention strategies, reduce the workload on security personnel, and enhance the efficiency of existing surveillance systems.</a:t>
            </a:r>
          </a:p>
          <a:p>
            <a:pPr algn="just" eaLnBrk="1" hangingPunct="1">
              <a:lnSpc>
                <a:spcPct val="150000"/>
              </a:lnSpc>
            </a:pP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67139" y="0"/>
            <a:ext cx="7886700" cy="1325563"/>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EXISTING SYSTEM </a:t>
            </a:r>
            <a:endParaRPr kumimoji="0" lang="en-IN"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14339" name="Content Placeholder 2"/>
          <p:cNvSpPr>
            <a:spLocks noGrp="1"/>
          </p:cNvSpPr>
          <p:nvPr>
            <p:ph idx="1"/>
          </p:nvPr>
        </p:nvSpPr>
        <p:spPr>
          <a:xfrm>
            <a:off x="457200" y="1066800"/>
            <a:ext cx="8229600" cy="5562600"/>
          </a:xfrm>
          <a:ln/>
        </p:spPr>
        <p:txBody>
          <a:bodyPr vert="horz" wrap="square" lIns="91440" tIns="45720" rIns="91440" bIns="45720" anchor="t" anchorCtr="0"/>
          <a:lstStyle/>
          <a:p>
            <a:pPr algn="l"/>
            <a:r>
              <a:rPr lang="en-US" sz="2000" b="1" i="0" dirty="0">
                <a:effectLst/>
                <a:latin typeface="Inter"/>
              </a:rPr>
              <a:t>Existing System &amp; Limitations</a:t>
            </a:r>
          </a:p>
          <a:p>
            <a:pPr algn="l">
              <a:spcAft>
                <a:spcPts val="300"/>
              </a:spcAft>
              <a:buFont typeface="+mj-lt"/>
              <a:buAutoNum type="arabicPeriod"/>
            </a:pPr>
            <a:r>
              <a:rPr lang="en-US" sz="2000" b="1" i="0" dirty="0">
                <a:effectLst/>
                <a:latin typeface="Inter"/>
              </a:rPr>
              <a:t>Basic CCTV Monitoring</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Passive recording without analysis</a:t>
            </a:r>
          </a:p>
          <a:p>
            <a:pPr marL="742950" lvl="1" indent="-285750" algn="l">
              <a:spcBef>
                <a:spcPts val="300"/>
              </a:spcBef>
              <a:buFont typeface="+mj-lt"/>
              <a:buAutoNum type="arabicPeriod"/>
            </a:pPr>
            <a:r>
              <a:rPr lang="en-US" sz="1800" b="0" i="0" dirty="0">
                <a:effectLst/>
                <a:latin typeface="Inter"/>
              </a:rPr>
              <a:t>Requires human monitoring</a:t>
            </a:r>
          </a:p>
          <a:p>
            <a:pPr marL="742950" lvl="1" indent="-285750" algn="l">
              <a:spcBef>
                <a:spcPts val="300"/>
              </a:spcBef>
              <a:buFont typeface="+mj-lt"/>
              <a:buAutoNum type="arabicPeriod"/>
            </a:pPr>
            <a:r>
              <a:rPr lang="en-US" sz="1800" b="0" i="0" dirty="0">
                <a:effectLst/>
                <a:latin typeface="Inter"/>
              </a:rPr>
              <a:t>No proactive alerts</a:t>
            </a:r>
          </a:p>
          <a:p>
            <a:pPr algn="l">
              <a:spcBef>
                <a:spcPts val="300"/>
              </a:spcBef>
              <a:spcAft>
                <a:spcPts val="300"/>
              </a:spcAft>
              <a:buFont typeface="+mj-lt"/>
              <a:buAutoNum type="arabicPeriod"/>
            </a:pPr>
            <a:r>
              <a:rPr lang="en-US" sz="2000" b="1" i="0" dirty="0">
                <a:effectLst/>
                <a:latin typeface="Inter"/>
              </a:rPr>
              <a:t>RFID-Based Systems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High installation costs</a:t>
            </a:r>
          </a:p>
          <a:p>
            <a:pPr marL="742950" lvl="1" indent="-285750" algn="l">
              <a:spcBef>
                <a:spcPts val="300"/>
              </a:spcBef>
              <a:buFont typeface="+mj-lt"/>
              <a:buAutoNum type="arabicPeriod"/>
            </a:pPr>
            <a:r>
              <a:rPr lang="en-US" sz="1800" b="0" i="0" dirty="0">
                <a:effectLst/>
                <a:latin typeface="Inter"/>
              </a:rPr>
              <a:t>Only detects unpaid items</a:t>
            </a:r>
          </a:p>
          <a:p>
            <a:pPr marL="742950" lvl="1" indent="-285750" algn="l">
              <a:spcBef>
                <a:spcPts val="300"/>
              </a:spcBef>
              <a:buFont typeface="+mj-lt"/>
              <a:buAutoNum type="arabicPeriod"/>
            </a:pPr>
            <a:r>
              <a:rPr lang="en-US" sz="1800" b="0" i="0" dirty="0">
                <a:effectLst/>
                <a:latin typeface="Inter"/>
              </a:rPr>
              <a:t>Easy to bypass</a:t>
            </a:r>
          </a:p>
          <a:p>
            <a:pPr algn="l">
              <a:spcBef>
                <a:spcPts val="300"/>
              </a:spcBef>
              <a:spcAft>
                <a:spcPts val="300"/>
              </a:spcAft>
              <a:buFont typeface="+mj-lt"/>
              <a:buAutoNum type="arabicPeriod"/>
            </a:pPr>
            <a:r>
              <a:rPr lang="en-US" sz="2000" b="1" i="0" dirty="0">
                <a:effectLst/>
                <a:latin typeface="Inter"/>
              </a:rPr>
              <a:t>Motion Detection Systems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High false positives</a:t>
            </a:r>
          </a:p>
          <a:p>
            <a:pPr marL="742950" lvl="1" indent="-285750" algn="l">
              <a:spcBef>
                <a:spcPts val="300"/>
              </a:spcBef>
              <a:buFont typeface="+mj-lt"/>
              <a:buAutoNum type="arabicPeriod"/>
            </a:pPr>
            <a:r>
              <a:rPr lang="en-US" sz="1800" b="0" i="0" dirty="0">
                <a:effectLst/>
                <a:latin typeface="Inter"/>
              </a:rPr>
              <a:t>No behavior analysis</a:t>
            </a:r>
          </a:p>
          <a:p>
            <a:pPr marL="742950" lvl="1" indent="-285750" algn="l">
              <a:spcBef>
                <a:spcPts val="300"/>
              </a:spcBef>
              <a:buFont typeface="+mj-lt"/>
              <a:buAutoNum type="arabicPeriod"/>
            </a:pPr>
            <a:r>
              <a:rPr lang="en-US" sz="1800" b="0" i="0" dirty="0">
                <a:effectLst/>
                <a:latin typeface="Inter"/>
              </a:rPr>
              <a:t>Can't differentiate customers/staff</a:t>
            </a:r>
          </a:p>
          <a:p>
            <a:pPr algn="l">
              <a:spcBef>
                <a:spcPts val="300"/>
              </a:spcBef>
              <a:spcAft>
                <a:spcPts val="300"/>
              </a:spcAft>
              <a:buFont typeface="+mj-lt"/>
              <a:buAutoNum type="arabicPeriod"/>
            </a:pPr>
            <a:r>
              <a:rPr lang="en-US" sz="2000" b="1" i="0" dirty="0">
                <a:effectLst/>
                <a:latin typeface="Inter"/>
              </a:rPr>
              <a:t>Manual Analytics Tools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Post-incident analysis only</a:t>
            </a:r>
          </a:p>
          <a:p>
            <a:pPr marL="742950" lvl="1" indent="-285750" algn="l">
              <a:spcBef>
                <a:spcPts val="300"/>
              </a:spcBef>
              <a:buFont typeface="+mj-lt"/>
              <a:buAutoNum type="arabicPeriod"/>
            </a:pPr>
            <a:r>
              <a:rPr lang="en-US" sz="1800" b="0" i="0" dirty="0">
                <a:effectLst/>
                <a:latin typeface="Inter"/>
              </a:rPr>
              <a:t>Requires technical expertise</a:t>
            </a:r>
          </a:p>
          <a:p>
            <a:pPr marL="742950" lvl="1" indent="-285750" algn="l">
              <a:spcBef>
                <a:spcPts val="300"/>
              </a:spcBef>
              <a:buFont typeface="+mj-lt"/>
              <a:buAutoNum type="arabicPeriod"/>
            </a:pPr>
            <a:r>
              <a:rPr lang="en-US" sz="1800" b="0" i="0" dirty="0">
                <a:effectLst/>
                <a:latin typeface="Inter"/>
              </a:rPr>
              <a:t>No real-time prevention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609600" y="2282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PROPOSED SYSTEM</a:t>
            </a:r>
          </a:p>
        </p:txBody>
      </p:sp>
      <p:sp>
        <p:nvSpPr>
          <p:cNvPr id="15362" name="Content Placeholder 3"/>
          <p:cNvSpPr>
            <a:spLocks noGrp="1"/>
          </p:cNvSpPr>
          <p:nvPr>
            <p:ph idx="1"/>
          </p:nvPr>
        </p:nvSpPr>
        <p:spPr>
          <a:xfrm>
            <a:off x="381000" y="1447800"/>
            <a:ext cx="8305800" cy="5410200"/>
          </a:xfrm>
          <a:ln/>
        </p:spPr>
        <p:txBody>
          <a:bodyPr vert="horz" wrap="square" lIns="91440" tIns="45720" rIns="91440" bIns="45720" anchor="t" anchorCtr="0">
            <a:normAutofit/>
          </a:bodyPr>
          <a:lstStyle/>
          <a:p>
            <a:pPr algn="l"/>
            <a:r>
              <a:rPr lang="en-IN" sz="2000" b="1" i="0" dirty="0">
                <a:effectLst/>
                <a:latin typeface="Inter"/>
              </a:rPr>
              <a:t>Key Features:</a:t>
            </a:r>
            <a:endParaRPr lang="en-IN" sz="2000" b="0" i="0" dirty="0">
              <a:effectLst/>
              <a:latin typeface="Inter"/>
            </a:endParaRPr>
          </a:p>
          <a:p>
            <a:pPr algn="l">
              <a:buFont typeface="Arial" panose="020B0604020202020204" pitchFamily="34" charset="0"/>
              <a:buChar char="•"/>
            </a:pPr>
            <a:r>
              <a:rPr lang="en-IN" sz="2000" b="0" i="0" dirty="0">
                <a:effectLst/>
                <a:latin typeface="Inter"/>
              </a:rPr>
              <a:t>Real-time suspicious activity detection</a:t>
            </a:r>
          </a:p>
          <a:p>
            <a:pPr algn="l">
              <a:spcBef>
                <a:spcPts val="300"/>
              </a:spcBef>
              <a:buFont typeface="Arial" panose="020B0604020202020204" pitchFamily="34" charset="0"/>
              <a:buChar char="•"/>
            </a:pPr>
            <a:r>
              <a:rPr lang="en-IN" sz="2000" b="0" i="0" dirty="0">
                <a:effectLst/>
                <a:latin typeface="Inter"/>
              </a:rPr>
              <a:t>Multi-camera synchronization</a:t>
            </a:r>
          </a:p>
          <a:p>
            <a:pPr algn="l">
              <a:spcBef>
                <a:spcPts val="300"/>
              </a:spcBef>
              <a:buFont typeface="Arial" panose="020B0604020202020204" pitchFamily="34" charset="0"/>
              <a:buChar char="•"/>
            </a:pPr>
            <a:r>
              <a:rPr lang="en-IN" sz="2000" b="0" i="0" dirty="0">
                <a:effectLst/>
                <a:latin typeface="Inter"/>
              </a:rPr>
              <a:t>Edge computing compatibility</a:t>
            </a:r>
          </a:p>
          <a:p>
            <a:pPr algn="l">
              <a:spcBef>
                <a:spcPts val="300"/>
              </a:spcBef>
              <a:buFont typeface="Arial" panose="020B0604020202020204" pitchFamily="34" charset="0"/>
              <a:buChar char="•"/>
            </a:pPr>
            <a:r>
              <a:rPr lang="en-IN" sz="2000" b="0" i="0" dirty="0">
                <a:effectLst/>
                <a:latin typeface="Inter"/>
              </a:rPr>
              <a:t>Privacy-preserving blurring</a:t>
            </a:r>
          </a:p>
          <a:p>
            <a:pPr algn="l">
              <a:spcBef>
                <a:spcPts val="300"/>
              </a:spcBef>
              <a:buFont typeface="Arial" panose="020B0604020202020204" pitchFamily="34" charset="0"/>
              <a:buChar char="•"/>
            </a:pPr>
            <a:r>
              <a:rPr lang="en-IN" sz="2000" b="0" i="0" dirty="0">
                <a:effectLst/>
                <a:latin typeface="Inter"/>
              </a:rPr>
              <a:t>Alert escalation system (visual/sound/SMS)</a:t>
            </a:r>
          </a:p>
          <a:p>
            <a:pPr algn="l">
              <a:spcBef>
                <a:spcPts val="300"/>
              </a:spcBef>
              <a:buFont typeface="Arial" panose="020B0604020202020204" pitchFamily="34" charset="0"/>
              <a:buChar char="•"/>
            </a:pPr>
            <a:r>
              <a:rPr lang="en-IN" sz="2000" b="0" i="0" dirty="0">
                <a:effectLst/>
                <a:latin typeface="Inter"/>
              </a:rPr>
              <a:t>Encrypted evidence logging</a:t>
            </a:r>
          </a:p>
          <a:p>
            <a:pPr algn="l">
              <a:spcBef>
                <a:spcPts val="300"/>
              </a:spcBef>
              <a:buFont typeface="Arial" panose="020B0604020202020204" pitchFamily="34" charset="0"/>
              <a:buChar char="•"/>
            </a:pPr>
            <a:endParaRPr lang="en-IN" sz="2000" dirty="0">
              <a:latin typeface="Inter"/>
            </a:endParaRPr>
          </a:p>
          <a:p>
            <a:pPr marL="0" indent="0">
              <a:spcBef>
                <a:spcPts val="300"/>
              </a:spcBef>
              <a:buNone/>
            </a:pPr>
            <a:r>
              <a:rPr lang="en-US" sz="1800" dirty="0"/>
              <a:t>The proposed system leverages </a:t>
            </a:r>
            <a:r>
              <a:rPr lang="en-US" sz="1800" b="1" dirty="0"/>
              <a:t>YOLOv8 for real-time object detection</a:t>
            </a:r>
            <a:r>
              <a:rPr lang="en-US" sz="1800" dirty="0"/>
              <a:t>, </a:t>
            </a:r>
            <a:r>
              <a:rPr lang="en-US" sz="1800" b="1" dirty="0" err="1"/>
              <a:t>DeepSORT</a:t>
            </a:r>
            <a:r>
              <a:rPr lang="en-US" sz="1800" b="1" dirty="0"/>
              <a:t> for identity tracking</a:t>
            </a:r>
            <a:r>
              <a:rPr lang="en-US" sz="1800" dirty="0"/>
              <a:t>, and </a:t>
            </a:r>
            <a:r>
              <a:rPr lang="en-US" sz="1800" b="1" dirty="0"/>
              <a:t>OpenCV for video processing</a:t>
            </a:r>
            <a:r>
              <a:rPr lang="en-US" sz="1800" dirty="0"/>
              <a:t> to detect and track individuals in a retail store. It monitors </a:t>
            </a:r>
            <a:r>
              <a:rPr lang="en-US" sz="1800" b="1" dirty="0"/>
              <a:t>loitering behavior</a:t>
            </a:r>
            <a:r>
              <a:rPr lang="en-US" sz="1800" dirty="0"/>
              <a:t> (if a person stays in the same area beyond a threshold) and </a:t>
            </a:r>
            <a:r>
              <a:rPr lang="en-US" sz="1800" b="1" dirty="0"/>
              <a:t>concealment activities</a:t>
            </a:r>
            <a:r>
              <a:rPr lang="en-US" sz="1800" dirty="0"/>
              <a:t> (if an object moves near a person’s hands or body and disappears). The system provides </a:t>
            </a:r>
            <a:r>
              <a:rPr lang="en-US" sz="1800" b="1" dirty="0"/>
              <a:t>real-time alerts</a:t>
            </a:r>
            <a:r>
              <a:rPr lang="en-US" sz="1800" dirty="0"/>
              <a:t> through bounding boxes and warning messages on the video feed. This </a:t>
            </a:r>
            <a:r>
              <a:rPr lang="en-US" sz="1800" b="1" dirty="0"/>
              <a:t>AI-powered solution enhances surveillance efficiency, reduces human monitoring effort, and enables proactive theft prevention</a:t>
            </a:r>
            <a:r>
              <a:rPr lang="en-US" sz="1800" dirty="0"/>
              <a:t>.</a:t>
            </a:r>
          </a:p>
          <a:p>
            <a:pPr algn="l">
              <a:spcBef>
                <a:spcPts val="300"/>
              </a:spcBef>
              <a:buFont typeface="Arial" panose="020B0604020202020204" pitchFamily="34" charset="0"/>
              <a:buChar char="•"/>
            </a:pPr>
            <a:endParaRPr lang="en-IN" sz="2000" b="0" i="0" dirty="0">
              <a:effectLst/>
              <a:latin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04800" y="758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SYSTEM REQUIREMENT</a:t>
            </a:r>
          </a:p>
        </p:txBody>
      </p:sp>
      <p:sp>
        <p:nvSpPr>
          <p:cNvPr id="17410" name="Content Placeholder 2"/>
          <p:cNvSpPr>
            <a:spLocks noGrp="1"/>
          </p:cNvSpPr>
          <p:nvPr>
            <p:ph idx="1"/>
          </p:nvPr>
        </p:nvSpPr>
        <p:spPr>
          <a:xfrm>
            <a:off x="457200" y="1066483"/>
            <a:ext cx="8686800" cy="5289868"/>
          </a:xfrm>
          <a:ln/>
        </p:spPr>
        <p:txBody>
          <a:bodyPr vert="horz" wrap="square" lIns="91440" tIns="45720" rIns="91440" bIns="45720" anchor="t" anchorCtr="0">
            <a:noAutofit/>
          </a:bodyPr>
          <a:lstStyle/>
          <a:p>
            <a:pPr eaLnBrk="1" hangingPunct="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Software Requirements:</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•OS: Windows 10/11, Linux (Ubuntu 20.04+), or macOS</a:t>
            </a:r>
            <a:r>
              <a:rPr lang="en-IN" altLang="en-US" sz="1800" dirty="0">
                <a:latin typeface="Times New Roman" panose="02020603050405020304" pitchFamily="18" charset="0"/>
                <a:cs typeface="Times New Roman" panose="02020603050405020304" pitchFamily="18" charset="0"/>
              </a:rPr>
              <a:t> </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•Language: Python 3.8+</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•Libraries: </a:t>
            </a:r>
            <a:r>
              <a:rPr lang="en-IN" sz="1800" dirty="0" err="1">
                <a:latin typeface="Times New Roman" panose="02020603050405020304" pitchFamily="18" charset="0"/>
                <a:cs typeface="Times New Roman" panose="02020603050405020304" pitchFamily="18" charset="0"/>
              </a:rPr>
              <a:t>Ultralytics</a:t>
            </a:r>
            <a:r>
              <a:rPr lang="en-IN" sz="1800" dirty="0">
                <a:latin typeface="Times New Roman" panose="02020603050405020304" pitchFamily="18" charset="0"/>
                <a:cs typeface="Times New Roman" panose="02020603050405020304" pitchFamily="18" charset="0"/>
              </a:rPr>
              <a:t> YOLOv8, OpenCV, NumPy, Torch, </a:t>
            </a:r>
            <a:r>
              <a:rPr lang="en-IN" sz="1800" dirty="0" err="1">
                <a:latin typeface="Times New Roman" panose="02020603050405020304" pitchFamily="18" charset="0"/>
                <a:cs typeface="Times New Roman" panose="02020603050405020304" pitchFamily="18" charset="0"/>
              </a:rPr>
              <a:t>DeepSORT</a:t>
            </a:r>
            <a:r>
              <a:rPr lang="en-IN" sz="1800" dirty="0">
                <a:latin typeface="Times New Roman" panose="02020603050405020304" pitchFamily="18" charset="0"/>
                <a:cs typeface="Times New Roman" panose="02020603050405020304" pitchFamily="18" charset="0"/>
              </a:rPr>
              <a:t>, SciPy</a:t>
            </a:r>
            <a:r>
              <a:rPr lang="en-IN" altLang="en-US" sz="1800" dirty="0">
                <a:latin typeface="Times New Roman" panose="02020603050405020304" pitchFamily="18" charset="0"/>
                <a:cs typeface="Times New Roman" panose="02020603050405020304" pitchFamily="18" charset="0"/>
              </a:rPr>
              <a:t> </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•Tools: </a:t>
            </a:r>
            <a:r>
              <a:rPr lang="en-US" altLang="en-US" sz="1800" dirty="0" err="1">
                <a:latin typeface="Times New Roman" panose="02020603050405020304" pitchFamily="18" charset="0"/>
                <a:cs typeface="Times New Roman" panose="02020603050405020304" pitchFamily="18" charset="0"/>
              </a:rPr>
              <a:t>Jupyter</a:t>
            </a:r>
            <a:r>
              <a:rPr lang="en-US" altLang="en-US" sz="1800" dirty="0">
                <a:latin typeface="Times New Roman" panose="02020603050405020304" pitchFamily="18" charset="0"/>
                <a:cs typeface="Times New Roman" panose="02020603050405020304" pitchFamily="18" charset="0"/>
              </a:rPr>
              <a:t> Notebook, PyCharm/VS Code</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•Database: MySQL, PostgreSQL, or SQLite</a:t>
            </a:r>
          </a:p>
          <a:p>
            <a:pPr marL="109220" indent="0" eaLnBrk="1" hangingPunct="1">
              <a:buFont typeface="Wingdings" panose="05000000000000000000" pitchFamily="2" charset="2"/>
              <a:buNone/>
            </a:pPr>
            <a:endParaRPr lang="en-US" altLang="en-US" sz="1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Hardware Requirements:</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•Processor: Intel Core i5 or higher</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•RAM: 8 GB minimum (16 GB recommended)</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•Storage: 20 GB free disk space</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•GPU: NVIDIA GPU with CUDA (optional)</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•Internet Connection: Required</a:t>
            </a:r>
          </a:p>
          <a:p>
            <a:pPr eaLnBrk="1" hangingPunct="1">
              <a:buFont typeface="Wingdings 3" panose="05040102010807070707" pitchFamily="18" charset="2"/>
              <a:buChar char=""/>
            </a:pPr>
            <a:endParaRPr lang="en-US" altLang="en-US" sz="1800" dirty="0">
              <a:latin typeface="Times New Roman" panose="02020603050405020304" pitchFamily="18" charset="0"/>
              <a:cs typeface="Times New Roman" panose="02020603050405020304" pitchFamily="18" charset="0"/>
            </a:endParaRPr>
          </a:p>
        </p:txBody>
      </p:sp>
      <p:sp>
        <p:nvSpPr>
          <p:cNvPr id="17411" name="Slide Number Placeholder 4"/>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marL="0" indent="0" algn="r" eaLnBrk="1" hangingPunct="1">
                <a:spcBef>
                  <a:spcPct val="0"/>
                </a:spcBef>
                <a:buClrTx/>
                <a:buSzTx/>
                <a:buFontTx/>
                <a:buNone/>
              </a:pPr>
              <a:t>5</a:t>
            </a:fld>
            <a:endParaRPr lang="en-US" altLang="en-US" sz="10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563562"/>
          </a:xfrm>
          <a:noFill/>
          <a:ln>
            <a:noFill/>
          </a:ln>
          <a:effectLst/>
          <a:sp3d prstMaterial="plastic"/>
        </p:spPr>
        <p:txBody>
          <a:bodyPr vert="horz" rtlCol="0" anchor="ctr">
            <a:normAutofit fontScale="90000"/>
            <a:scene3d>
              <a:camera prst="orthographicFront"/>
              <a:lightRig rig="soft" dir="t"/>
            </a:scene3d>
            <a:sp3d prstMaterial="softEdge">
              <a:bevelT w="25400" h="25400"/>
            </a:sp3d>
          </a:body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Char char="v"/>
              <a:defRPr/>
            </a:pPr>
            <a:r>
              <a:rPr kumimoji="0" lang="en-US" sz="4100" b="1" i="0" u="none" strike="noStrike" kern="1200" cap="small"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rPr>
              <a:t>Literature survey</a:t>
            </a:r>
            <a:endPar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graphicFrame>
        <p:nvGraphicFramePr>
          <p:cNvPr id="3" name="Table 2">
            <a:extLst>
              <a:ext uri="{FF2B5EF4-FFF2-40B4-BE49-F238E27FC236}">
                <a16:creationId xmlns:a16="http://schemas.microsoft.com/office/drawing/2014/main" id="{034D73F1-B588-819E-02D9-03D957C12D49}"/>
              </a:ext>
            </a:extLst>
          </p:cNvPr>
          <p:cNvGraphicFramePr>
            <a:graphicFrameLocks noGrp="1"/>
          </p:cNvGraphicFramePr>
          <p:nvPr>
            <p:extLst>
              <p:ext uri="{D42A27DB-BD31-4B8C-83A1-F6EECF244321}">
                <p14:modId xmlns:p14="http://schemas.microsoft.com/office/powerpoint/2010/main" val="2135606164"/>
              </p:ext>
            </p:extLst>
          </p:nvPr>
        </p:nvGraphicFramePr>
        <p:xfrm>
          <a:off x="533400" y="792163"/>
          <a:ext cx="8153400" cy="5428931"/>
        </p:xfrm>
        <a:graphic>
          <a:graphicData uri="http://schemas.openxmlformats.org/drawingml/2006/table">
            <a:tbl>
              <a:tblPr/>
              <a:tblGrid>
                <a:gridCol w="1615440">
                  <a:extLst>
                    <a:ext uri="{9D8B030D-6E8A-4147-A177-3AD203B41FA5}">
                      <a16:colId xmlns:a16="http://schemas.microsoft.com/office/drawing/2014/main" val="1328052695"/>
                    </a:ext>
                  </a:extLst>
                </a:gridCol>
                <a:gridCol w="1615440">
                  <a:extLst>
                    <a:ext uri="{9D8B030D-6E8A-4147-A177-3AD203B41FA5}">
                      <a16:colId xmlns:a16="http://schemas.microsoft.com/office/drawing/2014/main" val="3798894113"/>
                    </a:ext>
                  </a:extLst>
                </a:gridCol>
                <a:gridCol w="1615440">
                  <a:extLst>
                    <a:ext uri="{9D8B030D-6E8A-4147-A177-3AD203B41FA5}">
                      <a16:colId xmlns:a16="http://schemas.microsoft.com/office/drawing/2014/main" val="2692458397"/>
                    </a:ext>
                  </a:extLst>
                </a:gridCol>
                <a:gridCol w="1615440">
                  <a:extLst>
                    <a:ext uri="{9D8B030D-6E8A-4147-A177-3AD203B41FA5}">
                      <a16:colId xmlns:a16="http://schemas.microsoft.com/office/drawing/2014/main" val="2841835355"/>
                    </a:ext>
                  </a:extLst>
                </a:gridCol>
                <a:gridCol w="1691640">
                  <a:extLst>
                    <a:ext uri="{9D8B030D-6E8A-4147-A177-3AD203B41FA5}">
                      <a16:colId xmlns:a16="http://schemas.microsoft.com/office/drawing/2014/main" val="2161238997"/>
                    </a:ext>
                  </a:extLst>
                </a:gridCol>
              </a:tblGrid>
              <a:tr h="704531">
                <a:tc>
                  <a:txBody>
                    <a:bodyPr/>
                    <a:lstStyle/>
                    <a:p>
                      <a:pPr algn="l"/>
                      <a:r>
                        <a:rPr lang="en-IN" sz="1300" b="1" dirty="0">
                          <a:effectLst/>
                        </a:rPr>
                        <a:t>SNO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sz="1300" b="1">
                          <a:effectLst/>
                        </a:rPr>
                        <a:t>Paper Title, 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sz="1300" b="1">
                          <a:effectLst/>
                        </a:rPr>
                        <a:t>Algorithm/Technique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sz="1300" b="1">
                          <a:effectLst/>
                        </a:rPr>
                        <a:t>Pros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sz="1300" b="1">
                          <a:effectLst/>
                        </a:rPr>
                        <a:t>Cons</a:t>
                      </a:r>
                      <a:endParaRPr lang="en-IN" sz="13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931510"/>
                  </a:ext>
                </a:extLst>
              </a:tr>
              <a:tr h="704531">
                <a:tc>
                  <a:txBody>
                    <a:bodyPr/>
                    <a:lstStyle/>
                    <a:p>
                      <a:r>
                        <a:rPr lang="en-IN" sz="1300">
                          <a:effectLst/>
                        </a:rPr>
                        <a:t>1</a:t>
                      </a:r>
                      <a:endParaRPr lang="en-IN"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b="1">
                          <a:effectLst/>
                        </a:rPr>
                        <a:t>Real-Time Anomaly Detection in Retail Surveillance Using Deep Learning</a:t>
                      </a:r>
                      <a:r>
                        <a:rPr lang="en-US" sz="1300">
                          <a:effectLst/>
                        </a:rPr>
                        <a:t> [Chen et al., 2022]</a:t>
                      </a:r>
                      <a:endParaRPr lang="en-US"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300">
                          <a:effectLst/>
                        </a:rPr>
                        <a:t>YOLOv5 + 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High detection accuracy (98.3%), real-time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Requires GPU for inference, limited occlusion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9282071"/>
                  </a:ext>
                </a:extLst>
              </a:tr>
              <a:tr h="704531">
                <a:tc>
                  <a:txBody>
                    <a:bodyPr/>
                    <a:lstStyle/>
                    <a:p>
                      <a:r>
                        <a:rPr lang="en-IN" sz="1300">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b="1">
                          <a:effectLst/>
                        </a:rPr>
                        <a:t>Human Action Recognition for Theft Detection in Surveillance Videos</a:t>
                      </a:r>
                      <a:r>
                        <a:rPr lang="en-US" sz="1300">
                          <a:effectLst/>
                        </a:rPr>
                        <a:t> [Wang &amp; Li, 2023]</a:t>
                      </a:r>
                      <a:endParaRPr lang="en-US"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300">
                          <a:effectLst/>
                        </a:rPr>
                        <a:t>3D CNN + Optical Flow</a:t>
                      </a:r>
                      <a:endParaRPr lang="en-IN"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Captures temporal features, robust to lighting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Computationally intensive (15 FPS on 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6828456"/>
                  </a:ext>
                </a:extLst>
              </a:tr>
              <a:tr h="595208">
                <a:tc>
                  <a:txBody>
                    <a:bodyPr/>
                    <a:lstStyle/>
                    <a:p>
                      <a:r>
                        <a:rPr lang="en-US" sz="1300">
                          <a:effectLst/>
                        </a:rPr>
                        <a:t>3</a:t>
                      </a:r>
                      <a:endParaRPr lang="en-IN"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b="1">
                          <a:effectLst/>
                        </a:rPr>
                        <a:t>Edge AI for Real-Time Shoplifting Alerts in CCTV Systems</a:t>
                      </a:r>
                      <a:r>
                        <a:rPr lang="en-US" sz="1300">
                          <a:effectLst/>
                        </a:rPr>
                        <a:t> [Kim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300">
                          <a:effectLst/>
                        </a:rPr>
                        <a:t>Tiny-YOLOv4 + DeepSORT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Low latency (8ms/frame), works on Jetson Nano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Lower accuracy (89.4%) compared to larger models</a:t>
                      </a:r>
                      <a:endParaRPr lang="en-US"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7417586"/>
                  </a:ext>
                </a:extLst>
              </a:tr>
              <a:tr h="704531">
                <a:tc>
                  <a:txBody>
                    <a:bodyPr/>
                    <a:lstStyle/>
                    <a:p>
                      <a:r>
                        <a:rPr lang="en-US" sz="1300">
                          <a:effectLst/>
                        </a:rPr>
                        <a:t>4</a:t>
                      </a:r>
                      <a:endParaRPr lang="en-IN"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b="1">
                          <a:effectLst/>
                        </a:rPr>
                        <a:t>Privacy-Aware Shoplifting Detection Using Thermal Imaging</a:t>
                      </a:r>
                      <a:r>
                        <a:rPr lang="en-US" sz="1300">
                          <a:effectLst/>
                        </a:rPr>
                        <a:t> [Nguyen et al., 2024]</a:t>
                      </a:r>
                      <a:endParaRPr lang="en-US"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300">
                          <a:effectLst/>
                        </a:rPr>
                        <a:t>Thermal CNN</a:t>
                      </a:r>
                      <a:endParaRPr lang="en-IN" sz="13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300">
                          <a:effectLst/>
                        </a:rPr>
                        <a:t>Works in low light, avoids facial privacy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300" dirty="0">
                          <a:effectLst/>
                        </a:rPr>
                        <a:t>Limited object recognition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096511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3400" y="0"/>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ARCHITECTURE DIAGRAM</a:t>
            </a:r>
          </a:p>
        </p:txBody>
      </p:sp>
      <p:sp>
        <p:nvSpPr>
          <p:cNvPr id="24578" name="Slide Number Placeholder 9"/>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marL="0" indent="0" algn="r" eaLnBrk="1" hangingPunct="1">
                <a:spcBef>
                  <a:spcPct val="0"/>
                </a:spcBef>
                <a:buClrTx/>
                <a:buSzTx/>
                <a:buFontTx/>
                <a:buNone/>
              </a:pPr>
              <a:t>7</a:t>
            </a:fld>
            <a:endParaRPr lang="en-US" altLang="en-US" sz="1000" dirty="0">
              <a:latin typeface="Arial" panose="020B0604020202020204" pitchFamily="34" charset="0"/>
            </a:endParaRPr>
          </a:p>
        </p:txBody>
      </p:sp>
      <p:pic>
        <p:nvPicPr>
          <p:cNvPr id="4100" name="Picture 4" descr="PlantUML Diagram">
            <a:extLst>
              <a:ext uri="{FF2B5EF4-FFF2-40B4-BE49-F238E27FC236}">
                <a16:creationId xmlns:a16="http://schemas.microsoft.com/office/drawing/2014/main" id="{BE02A6A1-8CCB-85DC-956B-E8D16163D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116545"/>
            <a:ext cx="4017962" cy="52662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5DB9-4D71-1F1F-70AA-2D33C21969E9}"/>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C44D3EC6-3250-D591-ECEF-34C872C29FB7}"/>
              </a:ext>
            </a:extLst>
          </p:cNvPr>
          <p:cNvSpPr>
            <a:spLocks noGrp="1"/>
          </p:cNvSpPr>
          <p:nvPr>
            <p:ph type="title"/>
          </p:nvPr>
        </p:nvSpPr>
        <p:spPr>
          <a:xfrm>
            <a:off x="609600" y="274638"/>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USE CASE DIAGRAM</a:t>
            </a:r>
          </a:p>
        </p:txBody>
      </p:sp>
      <p:sp>
        <p:nvSpPr>
          <p:cNvPr id="24578" name="Slide Number Placeholder 9">
            <a:extLst>
              <a:ext uri="{FF2B5EF4-FFF2-40B4-BE49-F238E27FC236}">
                <a16:creationId xmlns:a16="http://schemas.microsoft.com/office/drawing/2014/main" id="{6124A108-531B-9AB5-2AA7-2960B0D171B3}"/>
              </a:ext>
            </a:extLst>
          </p:cNvPr>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a:t>8</a:t>
            </a:fld>
            <a:endParaRPr lang="en-US" altLang="en-US" sz="1000" dirty="0">
              <a:latin typeface="Arial" panose="020B0604020202020204" pitchFamily="34" charset="0"/>
            </a:endParaRPr>
          </a:p>
        </p:txBody>
      </p:sp>
      <p:pic>
        <p:nvPicPr>
          <p:cNvPr id="5130" name="Picture 10" descr="PlantUML Diagram">
            <a:extLst>
              <a:ext uri="{FF2B5EF4-FFF2-40B4-BE49-F238E27FC236}">
                <a16:creationId xmlns:a16="http://schemas.microsoft.com/office/drawing/2014/main" id="{A9B1DF5E-F6DD-0FCC-9C46-B13289B41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1"/>
            <a:ext cx="91440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45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3044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IN" alt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      CLASS</a:t>
            </a: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 DIAGRAM </a:t>
            </a:r>
            <a:b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br>
            <a:endPar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26626" name="Slide Number Placeholder 9"/>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a:t>9</a:t>
            </a:fld>
            <a:endParaRPr lang="en-US" altLang="en-US" sz="1000" dirty="0">
              <a:latin typeface="Arial" panose="020B0604020202020204" pitchFamily="34" charset="0"/>
            </a:endParaRPr>
          </a:p>
        </p:txBody>
      </p:sp>
      <p:pic>
        <p:nvPicPr>
          <p:cNvPr id="6148" name="Picture 4" descr="PlantUML Diagram">
            <a:extLst>
              <a:ext uri="{FF2B5EF4-FFF2-40B4-BE49-F238E27FC236}">
                <a16:creationId xmlns:a16="http://schemas.microsoft.com/office/drawing/2014/main" id="{68CB35DE-5E9E-B35A-AC5F-2F853A2E7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1716881"/>
            <a:ext cx="8153400" cy="3424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bwMode="auto">
          <a:xfrm>
            <a:off x="76200" y="304800"/>
            <a:ext cx="7765147" cy="995808"/>
          </a:xfrm>
          <a:noFill/>
          <a:ln>
            <a:noFill/>
          </a:ln>
          <a:effectLst/>
          <a:sp3d prstMaterial="plastic"/>
        </p:spPr>
        <p:txBody>
          <a:bodyPr vert="horz" wrap="square" lIns="91440" tIns="45720" rIns="91440" bIns="45720" numCol="1" rtlCol="0" anchor="ctr" anchorCtr="0" compatLnSpc="1">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SEQUENCE DIAGRAM</a:t>
            </a:r>
          </a:p>
        </p:txBody>
      </p:sp>
      <p:pic>
        <p:nvPicPr>
          <p:cNvPr id="9" name="Picture 8">
            <a:extLst>
              <a:ext uri="{FF2B5EF4-FFF2-40B4-BE49-F238E27FC236}">
                <a16:creationId xmlns:a16="http://schemas.microsoft.com/office/drawing/2014/main" id="{1AACA537-B090-4A17-3B73-3F3B996FFC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251678"/>
            <a:ext cx="6631049" cy="453511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1000" y="-152400"/>
            <a:ext cx="7765147" cy="995808"/>
          </a:xfrm>
          <a:prstGeom prst="rect">
            <a:avLst/>
          </a:prstGeom>
        </p:spPr>
        <p:txBody>
          <a:bodyPr vert="horz" wrap="square" lIns="0" tIns="358268" rIns="0" bIns="0" rtlCol="0">
            <a:spAutoFit/>
          </a:bodyPr>
          <a:lstStyle/>
          <a:p>
            <a:pPr marL="1245870">
              <a:lnSpc>
                <a:spcPct val="100000"/>
              </a:lnSpc>
              <a:spcBef>
                <a:spcPts val="100"/>
              </a:spcBef>
            </a:pPr>
            <a:r>
              <a:rPr sz="4100" spc="440" dirty="0">
                <a:latin typeface="Trebuchet MS"/>
                <a:cs typeface="Trebuchet MS"/>
              </a:rPr>
              <a:t>CODEBASE</a:t>
            </a:r>
            <a:r>
              <a:rPr sz="4100" spc="5" dirty="0">
                <a:latin typeface="Trebuchet MS"/>
                <a:cs typeface="Trebuchet MS"/>
              </a:rPr>
              <a:t> </a:t>
            </a:r>
            <a:r>
              <a:rPr sz="4100" spc="409" dirty="0">
                <a:latin typeface="Trebuchet MS"/>
                <a:cs typeface="Trebuchet MS"/>
              </a:rPr>
              <a:t>STRUCTURE</a:t>
            </a:r>
            <a:endParaRPr sz="4100" dirty="0">
              <a:latin typeface="Trebuchet MS"/>
              <a:cs typeface="Trebuchet MS"/>
            </a:endParaRPr>
          </a:p>
        </p:txBody>
      </p:sp>
      <p:sp>
        <p:nvSpPr>
          <p:cNvPr id="5" name="object 5"/>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11</a:t>
            </a:fld>
            <a:endParaRPr spc="-25" dirty="0"/>
          </a:p>
        </p:txBody>
      </p:sp>
      <p:sp>
        <p:nvSpPr>
          <p:cNvPr id="4" name="object 4"/>
          <p:cNvSpPr txBox="1"/>
          <p:nvPr/>
        </p:nvSpPr>
        <p:spPr>
          <a:xfrm>
            <a:off x="4486750" y="6478639"/>
            <a:ext cx="193675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lang="en-US" sz="1200" spc="-25" dirty="0">
                <a:latin typeface="Lucida Sans Unicode"/>
                <a:cs typeface="Lucida Sans Unicode"/>
              </a:rPr>
              <a:t>6</a:t>
            </a:r>
            <a:r>
              <a:rPr sz="1200" dirty="0">
                <a:latin typeface="Lucida Sans Unicode"/>
                <a:cs typeface="Lucida Sans Unicode"/>
              </a:rPr>
              <a:t>:</a:t>
            </a:r>
            <a:r>
              <a:rPr sz="1200" spc="-20" dirty="0">
                <a:latin typeface="Lucida Sans Unicode"/>
                <a:cs typeface="Lucida Sans Unicode"/>
              </a:rPr>
              <a:t> </a:t>
            </a:r>
            <a:r>
              <a:rPr sz="1200" dirty="0">
                <a:latin typeface="Lucida Sans Unicode"/>
                <a:cs typeface="Lucida Sans Unicode"/>
              </a:rPr>
              <a:t>CodeBase</a:t>
            </a:r>
            <a:r>
              <a:rPr sz="1200" spc="-20" dirty="0">
                <a:latin typeface="Lucida Sans Unicode"/>
                <a:cs typeface="Lucida Sans Unicode"/>
              </a:rPr>
              <a:t> </a:t>
            </a:r>
            <a:r>
              <a:rPr sz="1200" spc="-10" dirty="0">
                <a:latin typeface="Lucida Sans Unicode"/>
                <a:cs typeface="Lucida Sans Unicode"/>
              </a:rPr>
              <a:t>Structure</a:t>
            </a:r>
            <a:endParaRPr sz="1200" dirty="0">
              <a:latin typeface="Lucida Sans Unicode"/>
              <a:cs typeface="Lucida Sans Unicode"/>
            </a:endParaRPr>
          </a:p>
        </p:txBody>
      </p:sp>
      <p:pic>
        <p:nvPicPr>
          <p:cNvPr id="7" name="Picture 6">
            <a:extLst>
              <a:ext uri="{FF2B5EF4-FFF2-40B4-BE49-F238E27FC236}">
                <a16:creationId xmlns:a16="http://schemas.microsoft.com/office/drawing/2014/main" id="{DAC497CB-122C-1326-D182-8EA21D2D3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4349" y="860993"/>
            <a:ext cx="4055302" cy="54934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1000" y="-124992"/>
            <a:ext cx="7886700" cy="1325563"/>
          </a:xfrm>
          <a:prstGeom prst="rect">
            <a:avLst/>
          </a:prstGeom>
        </p:spPr>
        <p:txBody>
          <a:bodyPr vert="horz" wrap="square" lIns="0" tIns="358268" rIns="0" bIns="0" rtlCol="0">
            <a:spAutoFit/>
          </a:bodyPr>
          <a:lstStyle/>
          <a:p>
            <a:pPr marL="1938655">
              <a:lnSpc>
                <a:spcPct val="100000"/>
              </a:lnSpc>
              <a:spcBef>
                <a:spcPts val="100"/>
              </a:spcBef>
            </a:pPr>
            <a:r>
              <a:rPr sz="4100" u="heavy" spc="235" dirty="0">
                <a:uFill>
                  <a:solidFill>
                    <a:srgbClr val="464646"/>
                  </a:solidFill>
                </a:uFill>
                <a:latin typeface="Trebuchet MS"/>
                <a:cs typeface="Trebuchet MS"/>
              </a:rPr>
              <a:t>Frontend:</a:t>
            </a:r>
            <a:r>
              <a:rPr sz="4100" u="heavy" spc="25" dirty="0">
                <a:uFill>
                  <a:solidFill>
                    <a:srgbClr val="464646"/>
                  </a:solidFill>
                </a:uFill>
                <a:latin typeface="Trebuchet MS"/>
                <a:cs typeface="Trebuchet MS"/>
              </a:rPr>
              <a:t> </a:t>
            </a:r>
            <a:r>
              <a:rPr sz="4100" u="heavy" spc="235" dirty="0">
                <a:uFill>
                  <a:solidFill>
                    <a:srgbClr val="464646"/>
                  </a:solidFill>
                </a:uFill>
                <a:latin typeface="Trebuchet MS"/>
                <a:cs typeface="Trebuchet MS"/>
              </a:rPr>
              <a:t>React.js</a:t>
            </a:r>
            <a:endParaRPr sz="4100" dirty="0">
              <a:latin typeface="Trebuchet MS"/>
              <a:cs typeface="Trebuchet MS"/>
            </a:endParaRPr>
          </a:p>
        </p:txBody>
      </p:sp>
      <p:sp>
        <p:nvSpPr>
          <p:cNvPr id="5" name="object 5"/>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12</a:t>
            </a:fld>
            <a:endParaRPr spc="-25" dirty="0"/>
          </a:p>
        </p:txBody>
      </p:sp>
      <p:sp>
        <p:nvSpPr>
          <p:cNvPr id="4" name="object 4"/>
          <p:cNvSpPr txBox="1"/>
          <p:nvPr/>
        </p:nvSpPr>
        <p:spPr>
          <a:xfrm>
            <a:off x="4629785" y="6380098"/>
            <a:ext cx="229870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Lucida Sans Unicode"/>
                <a:cs typeface="Lucida Sans Unicode"/>
              </a:rPr>
              <a:t>FIG</a:t>
            </a:r>
            <a:r>
              <a:rPr sz="1200" spc="-30" dirty="0">
                <a:latin typeface="Lucida Sans Unicode"/>
                <a:cs typeface="Lucida Sans Unicode"/>
              </a:rPr>
              <a:t> </a:t>
            </a:r>
            <a:r>
              <a:rPr lang="en-US" sz="1200" spc="-30" dirty="0">
                <a:latin typeface="Lucida Sans Unicode"/>
                <a:cs typeface="Lucida Sans Unicode"/>
              </a:rPr>
              <a:t>7</a:t>
            </a:r>
            <a:r>
              <a:rPr sz="1200" dirty="0">
                <a:latin typeface="Lucida Sans Unicode"/>
                <a:cs typeface="Lucida Sans Unicode"/>
              </a:rPr>
              <a:t>:</a:t>
            </a:r>
            <a:r>
              <a:rPr sz="1200" spc="-30" dirty="0">
                <a:latin typeface="Lucida Sans Unicode"/>
                <a:cs typeface="Lucida Sans Unicode"/>
              </a:rPr>
              <a:t> </a:t>
            </a:r>
            <a:r>
              <a:rPr lang="en-US" sz="1200" dirty="0" err="1">
                <a:latin typeface="Lucida Sans Unicode"/>
                <a:cs typeface="Lucida Sans Unicode"/>
              </a:rPr>
              <a:t>INDEX</a:t>
            </a:r>
            <a:r>
              <a:rPr sz="1200" dirty="0" err="1">
                <a:latin typeface="Lucida Sans Unicode"/>
                <a:cs typeface="Lucida Sans Unicode"/>
              </a:rPr>
              <a:t>.</a:t>
            </a:r>
            <a:r>
              <a:rPr lang="en-US" sz="1200" dirty="0" err="1">
                <a:latin typeface="Lucida Sans Unicode"/>
                <a:cs typeface="Lucida Sans Unicode"/>
              </a:rPr>
              <a:t>html</a:t>
            </a:r>
            <a:endParaRPr sz="1200" dirty="0">
              <a:latin typeface="Lucida Sans Unicode"/>
              <a:cs typeface="Lucida Sans Unicode"/>
            </a:endParaRPr>
          </a:p>
        </p:txBody>
      </p:sp>
      <p:pic>
        <p:nvPicPr>
          <p:cNvPr id="7" name="Picture 6">
            <a:extLst>
              <a:ext uri="{FF2B5EF4-FFF2-40B4-BE49-F238E27FC236}">
                <a16:creationId xmlns:a16="http://schemas.microsoft.com/office/drawing/2014/main" id="{46F15D04-89F6-1CCF-D1AD-A0AC63080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825" y="1200571"/>
            <a:ext cx="7772400" cy="50356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45025" y="6478639"/>
            <a:ext cx="251714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35" dirty="0">
                <a:latin typeface="Lucida Sans Unicode"/>
                <a:cs typeface="Lucida Sans Unicode"/>
              </a:rPr>
              <a:t> </a:t>
            </a:r>
            <a:r>
              <a:rPr lang="en-US" sz="1200" spc="-35" dirty="0">
                <a:latin typeface="Lucida Sans Unicode"/>
                <a:cs typeface="Lucida Sans Unicode"/>
              </a:rPr>
              <a:t>8:</a:t>
            </a:r>
            <a:r>
              <a:rPr sz="1200" spc="-30" dirty="0">
                <a:latin typeface="Lucida Sans Unicode"/>
                <a:cs typeface="Lucida Sans Unicode"/>
              </a:rPr>
              <a:t> </a:t>
            </a:r>
            <a:r>
              <a:rPr sz="1200" dirty="0">
                <a:latin typeface="Lucida Sans Unicode"/>
                <a:cs typeface="Lucida Sans Unicode"/>
              </a:rPr>
              <a:t>App.jsx</a:t>
            </a:r>
            <a:r>
              <a:rPr sz="1200" spc="-30" dirty="0">
                <a:latin typeface="Lucida Sans Unicode"/>
                <a:cs typeface="Lucida Sans Unicode"/>
              </a:rPr>
              <a:t> </a:t>
            </a:r>
            <a:r>
              <a:rPr sz="1200" dirty="0">
                <a:latin typeface="Lucida Sans Unicode"/>
                <a:cs typeface="Lucida Sans Unicode"/>
              </a:rPr>
              <a:t>(Browser</a:t>
            </a:r>
            <a:r>
              <a:rPr sz="1200" spc="-30" dirty="0">
                <a:latin typeface="Lucida Sans Unicode"/>
                <a:cs typeface="Lucida Sans Unicode"/>
              </a:rPr>
              <a:t> </a:t>
            </a:r>
            <a:r>
              <a:rPr sz="1200" spc="-10" dirty="0">
                <a:latin typeface="Lucida Sans Unicode"/>
                <a:cs typeface="Lucida Sans Unicode"/>
              </a:rPr>
              <a:t>Routing)</a:t>
            </a:r>
            <a:endParaRPr sz="1200" dirty="0">
              <a:latin typeface="Lucida Sans Unicode"/>
              <a:cs typeface="Lucida Sans Unicode"/>
            </a:endParaRPr>
          </a:p>
        </p:txBody>
      </p:sp>
      <p:sp>
        <p:nvSpPr>
          <p:cNvPr id="4" name="object 4"/>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13</a:t>
            </a:fld>
            <a:endParaRPr spc="-25" dirty="0"/>
          </a:p>
        </p:txBody>
      </p:sp>
      <p:pic>
        <p:nvPicPr>
          <p:cNvPr id="6" name="Picture 5">
            <a:extLst>
              <a:ext uri="{FF2B5EF4-FFF2-40B4-BE49-F238E27FC236}">
                <a16:creationId xmlns:a16="http://schemas.microsoft.com/office/drawing/2014/main" id="{6294203E-C364-16B5-9707-FCE1135A1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793" y="609600"/>
            <a:ext cx="8252414" cy="524012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39524" y="6478639"/>
            <a:ext cx="2547075"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lang="en-US" sz="1200" spc="-25" dirty="0">
                <a:latin typeface="Lucida Sans Unicode"/>
                <a:cs typeface="Lucida Sans Unicode"/>
              </a:rPr>
              <a:t>9</a:t>
            </a:r>
            <a:r>
              <a:rPr sz="1200" dirty="0">
                <a:latin typeface="Lucida Sans Unicode"/>
                <a:cs typeface="Lucida Sans Unicode"/>
              </a:rPr>
              <a:t>:</a:t>
            </a:r>
            <a:r>
              <a:rPr sz="1200" spc="-25" dirty="0">
                <a:latin typeface="Lucida Sans Unicode"/>
                <a:cs typeface="Lucida Sans Unicode"/>
              </a:rPr>
              <a:t> </a:t>
            </a:r>
            <a:r>
              <a:rPr lang="en-US" sz="1200" dirty="0">
                <a:latin typeface="Lucida Sans Unicode"/>
                <a:cs typeface="Lucida Sans Unicode"/>
              </a:rPr>
              <a:t>Live Detection</a:t>
            </a:r>
            <a:r>
              <a:rPr sz="1200" spc="-25" dirty="0">
                <a:latin typeface="Lucida Sans Unicode"/>
                <a:cs typeface="Lucida Sans Unicode"/>
              </a:rPr>
              <a:t> </a:t>
            </a:r>
            <a:endParaRPr sz="1200" dirty="0">
              <a:latin typeface="Lucida Sans Unicode"/>
              <a:cs typeface="Lucida Sans Unicode"/>
            </a:endParaRPr>
          </a:p>
        </p:txBody>
      </p:sp>
      <p:sp>
        <p:nvSpPr>
          <p:cNvPr id="4" name="object 4"/>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14</a:t>
            </a:fld>
            <a:endParaRPr spc="-25" dirty="0"/>
          </a:p>
        </p:txBody>
      </p:sp>
      <p:pic>
        <p:nvPicPr>
          <p:cNvPr id="6" name="Picture 5">
            <a:extLst>
              <a:ext uri="{FF2B5EF4-FFF2-40B4-BE49-F238E27FC236}">
                <a16:creationId xmlns:a16="http://schemas.microsoft.com/office/drawing/2014/main" id="{E6DDF086-00C2-F105-9E32-5CB4F0005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325" y="533400"/>
            <a:ext cx="7772400" cy="49353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976825" y="6560689"/>
            <a:ext cx="218186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sz="1200" dirty="0">
                <a:latin typeface="Lucida Sans Unicode"/>
                <a:cs typeface="Lucida Sans Unicode"/>
              </a:rPr>
              <a:t>1</a:t>
            </a:r>
            <a:r>
              <a:rPr lang="en-US" sz="1200" dirty="0">
                <a:latin typeface="Lucida Sans Unicode"/>
                <a:cs typeface="Lucida Sans Unicode"/>
              </a:rPr>
              <a:t>0</a:t>
            </a:r>
            <a:r>
              <a:rPr sz="1200" dirty="0">
                <a:latin typeface="Lucida Sans Unicode"/>
                <a:cs typeface="Lucida Sans Unicode"/>
              </a:rPr>
              <a:t>:</a:t>
            </a:r>
            <a:r>
              <a:rPr sz="1200" spc="-25" dirty="0">
                <a:latin typeface="Lucida Sans Unicode"/>
                <a:cs typeface="Lucida Sans Unicode"/>
              </a:rPr>
              <a:t> </a:t>
            </a:r>
            <a:r>
              <a:rPr sz="1200" dirty="0">
                <a:latin typeface="Lucida Sans Unicode"/>
                <a:cs typeface="Lucida Sans Unicode"/>
              </a:rPr>
              <a:t>Dashboard</a:t>
            </a:r>
            <a:r>
              <a:rPr sz="1200" spc="-25" dirty="0">
                <a:latin typeface="Lucida Sans Unicode"/>
                <a:cs typeface="Lucida Sans Unicode"/>
              </a:rPr>
              <a:t> </a:t>
            </a:r>
            <a:r>
              <a:rPr sz="1200" dirty="0">
                <a:latin typeface="Lucida Sans Unicode"/>
                <a:cs typeface="Lucida Sans Unicode"/>
              </a:rPr>
              <a:t>(Left</a:t>
            </a:r>
            <a:r>
              <a:rPr sz="1200" spc="-25" dirty="0">
                <a:latin typeface="Lucida Sans Unicode"/>
                <a:cs typeface="Lucida Sans Unicode"/>
              </a:rPr>
              <a:t> </a:t>
            </a:r>
            <a:r>
              <a:rPr sz="1200" spc="-10" dirty="0">
                <a:latin typeface="Lucida Sans Unicode"/>
                <a:cs typeface="Lucida Sans Unicode"/>
              </a:rPr>
              <a:t>Side)</a:t>
            </a:r>
            <a:endParaRPr sz="1200" dirty="0">
              <a:latin typeface="Lucida Sans Unicode"/>
              <a:cs typeface="Lucida Sans Unicode"/>
            </a:endParaRPr>
          </a:p>
        </p:txBody>
      </p:sp>
      <p:sp>
        <p:nvSpPr>
          <p:cNvPr id="4" name="object 4"/>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15</a:t>
            </a:fld>
            <a:endParaRPr spc="-25" dirty="0"/>
          </a:p>
        </p:txBody>
      </p:sp>
      <p:pic>
        <p:nvPicPr>
          <p:cNvPr id="6" name="Picture 5">
            <a:extLst>
              <a:ext uri="{FF2B5EF4-FFF2-40B4-BE49-F238E27FC236}">
                <a16:creationId xmlns:a16="http://schemas.microsoft.com/office/drawing/2014/main" id="{7DADDAE4-A011-39CF-A04E-055E79AA5A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457200"/>
            <a:ext cx="7772400" cy="5545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50525" y="6478639"/>
            <a:ext cx="2289810" cy="192360"/>
          </a:xfrm>
          <a:prstGeom prst="rect">
            <a:avLst/>
          </a:prstGeom>
        </p:spPr>
        <p:txBody>
          <a:bodyPr vert="horz" wrap="square" lIns="0" tIns="7620" rIns="0" bIns="0" rtlCol="0">
            <a:spAutoFit/>
          </a:bodyPr>
          <a:lstStyle/>
          <a:p>
            <a:pPr marL="12700">
              <a:lnSpc>
                <a:spcPct val="100000"/>
              </a:lnSpc>
              <a:spcBef>
                <a:spcPts val="60"/>
              </a:spcBef>
            </a:pPr>
            <a:r>
              <a:rPr lang="en-IN" sz="1200" dirty="0">
                <a:latin typeface="Lucida Sans Unicode"/>
                <a:cs typeface="Lucida Sans Unicode"/>
              </a:rPr>
              <a:t>FIG</a:t>
            </a:r>
            <a:r>
              <a:rPr lang="en-IN" sz="1200" spc="-35" dirty="0">
                <a:latin typeface="Lucida Sans Unicode"/>
                <a:cs typeface="Lucida Sans Unicode"/>
              </a:rPr>
              <a:t> </a:t>
            </a:r>
            <a:r>
              <a:rPr lang="en-IN" sz="1200" dirty="0">
                <a:latin typeface="Lucida Sans Unicode"/>
                <a:cs typeface="Lucida Sans Unicode"/>
              </a:rPr>
              <a:t>11:</a:t>
            </a:r>
            <a:r>
              <a:rPr lang="en-IN" sz="1200" spc="-35" dirty="0">
                <a:latin typeface="Lucida Sans Unicode"/>
                <a:cs typeface="Lucida Sans Unicode"/>
              </a:rPr>
              <a:t> </a:t>
            </a:r>
            <a:r>
              <a:rPr lang="en-IN" sz="1200" dirty="0" err="1">
                <a:latin typeface="Lucida Sans Unicode"/>
                <a:cs typeface="Lucida Sans Unicode"/>
              </a:rPr>
              <a:t>Index.js</a:t>
            </a:r>
            <a:r>
              <a:rPr lang="en-IN" sz="1200" spc="-35" dirty="0">
                <a:latin typeface="Lucida Sans Unicode"/>
                <a:cs typeface="Lucida Sans Unicode"/>
              </a:rPr>
              <a:t> </a:t>
            </a:r>
            <a:endParaRPr sz="1200" dirty="0">
              <a:latin typeface="Lucida Sans Unicode"/>
              <a:cs typeface="Lucida Sans Unicode"/>
            </a:endParaRPr>
          </a:p>
        </p:txBody>
      </p:sp>
      <p:sp>
        <p:nvSpPr>
          <p:cNvPr id="4" name="object 4"/>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16</a:t>
            </a:fld>
            <a:endParaRPr spc="-25" dirty="0"/>
          </a:p>
        </p:txBody>
      </p:sp>
      <p:pic>
        <p:nvPicPr>
          <p:cNvPr id="6" name="Picture 5">
            <a:extLst>
              <a:ext uri="{FF2B5EF4-FFF2-40B4-BE49-F238E27FC236}">
                <a16:creationId xmlns:a16="http://schemas.microsoft.com/office/drawing/2014/main" id="{88295E41-9A3B-4EAC-67BD-6C71F73C6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378" y="990600"/>
            <a:ext cx="8143243" cy="213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F2A7AF-3111-3618-E8E3-984830B2E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559250"/>
            <a:ext cx="7772400" cy="3739500"/>
          </a:xfrm>
          <a:prstGeom prst="rect">
            <a:avLst/>
          </a:prstGeom>
        </p:spPr>
      </p:pic>
      <p:sp>
        <p:nvSpPr>
          <p:cNvPr id="4" name="TextBox 3">
            <a:extLst>
              <a:ext uri="{FF2B5EF4-FFF2-40B4-BE49-F238E27FC236}">
                <a16:creationId xmlns:a16="http://schemas.microsoft.com/office/drawing/2014/main" id="{87CB3B76-621E-9878-54AD-E0321CB433E7}"/>
              </a:ext>
            </a:extLst>
          </p:cNvPr>
          <p:cNvSpPr txBox="1"/>
          <p:nvPr/>
        </p:nvSpPr>
        <p:spPr>
          <a:xfrm>
            <a:off x="914400" y="556736"/>
            <a:ext cx="2153154"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DASHBOARD</a:t>
            </a:r>
          </a:p>
          <a:p>
            <a:endParaRPr lang="en-US" b="1" dirty="0"/>
          </a:p>
        </p:txBody>
      </p:sp>
    </p:spTree>
    <p:extLst>
      <p:ext uri="{BB962C8B-B14F-4D97-AF65-F5344CB8AC3E}">
        <p14:creationId xmlns:p14="http://schemas.microsoft.com/office/powerpoint/2010/main" val="1510151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CB3B76-621E-9878-54AD-E0321CB433E7}"/>
              </a:ext>
            </a:extLst>
          </p:cNvPr>
          <p:cNvSpPr txBox="1"/>
          <p:nvPr/>
        </p:nvSpPr>
        <p:spPr>
          <a:xfrm>
            <a:off x="914400" y="556736"/>
            <a:ext cx="2932213"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ANALYTICS PAGE</a:t>
            </a:r>
          </a:p>
          <a:p>
            <a:endParaRPr lang="en-US" b="1" dirty="0"/>
          </a:p>
        </p:txBody>
      </p:sp>
      <p:pic>
        <p:nvPicPr>
          <p:cNvPr id="5" name="Picture 4">
            <a:extLst>
              <a:ext uri="{FF2B5EF4-FFF2-40B4-BE49-F238E27FC236}">
                <a16:creationId xmlns:a16="http://schemas.microsoft.com/office/drawing/2014/main" id="{FFCA1142-F6DE-BE53-5E72-C5BFAAB24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780" y="1752600"/>
            <a:ext cx="8796439" cy="3939064"/>
          </a:xfrm>
          <a:prstGeom prst="rect">
            <a:avLst/>
          </a:prstGeom>
        </p:spPr>
      </p:pic>
    </p:spTree>
    <p:extLst>
      <p:ext uri="{BB962C8B-B14F-4D97-AF65-F5344CB8AC3E}">
        <p14:creationId xmlns:p14="http://schemas.microsoft.com/office/powerpoint/2010/main" val="3694022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CB3B76-621E-9878-54AD-E0321CB433E7}"/>
              </a:ext>
            </a:extLst>
          </p:cNvPr>
          <p:cNvSpPr txBox="1"/>
          <p:nvPr/>
        </p:nvSpPr>
        <p:spPr>
          <a:xfrm>
            <a:off x="914400" y="556736"/>
            <a:ext cx="2348720"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ALERTS PAGE</a:t>
            </a:r>
          </a:p>
          <a:p>
            <a:endParaRPr lang="en-US" b="1" dirty="0"/>
          </a:p>
        </p:txBody>
      </p:sp>
      <p:pic>
        <p:nvPicPr>
          <p:cNvPr id="5" name="Picture 4">
            <a:extLst>
              <a:ext uri="{FF2B5EF4-FFF2-40B4-BE49-F238E27FC236}">
                <a16:creationId xmlns:a16="http://schemas.microsoft.com/office/drawing/2014/main" id="{F50288B8-6A21-F2D2-F6C3-93D2C515A1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209800"/>
            <a:ext cx="8417594" cy="2667423"/>
          </a:xfrm>
          <a:prstGeom prst="rect">
            <a:avLst/>
          </a:prstGeom>
        </p:spPr>
      </p:pic>
    </p:spTree>
    <p:extLst>
      <p:ext uri="{BB962C8B-B14F-4D97-AF65-F5344CB8AC3E}">
        <p14:creationId xmlns:p14="http://schemas.microsoft.com/office/powerpoint/2010/main" val="1561940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CB3B76-621E-9878-54AD-E0321CB433E7}"/>
              </a:ext>
            </a:extLst>
          </p:cNvPr>
          <p:cNvSpPr txBox="1"/>
          <p:nvPr/>
        </p:nvSpPr>
        <p:spPr>
          <a:xfrm>
            <a:off x="914400" y="556736"/>
            <a:ext cx="3392275"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VIDEO MONITORING</a:t>
            </a:r>
          </a:p>
          <a:p>
            <a:endParaRPr lang="en-US" b="1" dirty="0"/>
          </a:p>
        </p:txBody>
      </p:sp>
      <p:pic>
        <p:nvPicPr>
          <p:cNvPr id="7" name="Picture 6">
            <a:extLst>
              <a:ext uri="{FF2B5EF4-FFF2-40B4-BE49-F238E27FC236}">
                <a16:creationId xmlns:a16="http://schemas.microsoft.com/office/drawing/2014/main" id="{9903F8FD-7996-EB1B-749D-AC1431FD4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98" y="1752600"/>
            <a:ext cx="8948803" cy="4057531"/>
          </a:xfrm>
          <a:prstGeom prst="rect">
            <a:avLst/>
          </a:prstGeom>
        </p:spPr>
      </p:pic>
    </p:spTree>
    <p:extLst>
      <p:ext uri="{BB962C8B-B14F-4D97-AF65-F5344CB8AC3E}">
        <p14:creationId xmlns:p14="http://schemas.microsoft.com/office/powerpoint/2010/main" val="1647926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CB3B76-621E-9878-54AD-E0321CB433E7}"/>
              </a:ext>
            </a:extLst>
          </p:cNvPr>
          <p:cNvSpPr txBox="1"/>
          <p:nvPr/>
        </p:nvSpPr>
        <p:spPr>
          <a:xfrm>
            <a:off x="914400" y="556736"/>
            <a:ext cx="3392275"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VIDEO MONITORING</a:t>
            </a:r>
          </a:p>
          <a:p>
            <a:endParaRPr lang="en-US" b="1" dirty="0"/>
          </a:p>
        </p:txBody>
      </p:sp>
      <p:pic>
        <p:nvPicPr>
          <p:cNvPr id="3" name="Picture 2">
            <a:extLst>
              <a:ext uri="{FF2B5EF4-FFF2-40B4-BE49-F238E27FC236}">
                <a16:creationId xmlns:a16="http://schemas.microsoft.com/office/drawing/2014/main" id="{AF723CC7-FDB2-6663-9E92-383B42B3F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66" y="1676400"/>
            <a:ext cx="8946667" cy="3505200"/>
          </a:xfrm>
          <a:prstGeom prst="rect">
            <a:avLst/>
          </a:prstGeom>
        </p:spPr>
      </p:pic>
    </p:spTree>
    <p:extLst>
      <p:ext uri="{BB962C8B-B14F-4D97-AF65-F5344CB8AC3E}">
        <p14:creationId xmlns:p14="http://schemas.microsoft.com/office/powerpoint/2010/main" val="2020970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358268" rIns="0" bIns="0" rtlCol="0">
            <a:spAutoFit/>
          </a:bodyPr>
          <a:lstStyle/>
          <a:p>
            <a:pPr marL="1617345">
              <a:lnSpc>
                <a:spcPct val="100000"/>
              </a:lnSpc>
              <a:spcBef>
                <a:spcPts val="100"/>
              </a:spcBef>
            </a:pPr>
            <a:r>
              <a:rPr sz="4100" u="heavy" spc="335" dirty="0">
                <a:uFill>
                  <a:solidFill>
                    <a:srgbClr val="464646"/>
                  </a:solidFill>
                </a:uFill>
                <a:latin typeface="Trebuchet MS"/>
                <a:cs typeface="Trebuchet MS"/>
              </a:rPr>
              <a:t>Backend</a:t>
            </a:r>
            <a:r>
              <a:rPr sz="4100" u="heavy" spc="5" dirty="0">
                <a:uFill>
                  <a:solidFill>
                    <a:srgbClr val="464646"/>
                  </a:solidFill>
                </a:uFill>
                <a:latin typeface="Trebuchet MS"/>
                <a:cs typeface="Trebuchet MS"/>
              </a:rPr>
              <a:t> </a:t>
            </a:r>
            <a:r>
              <a:rPr sz="4100" u="heavy" spc="280" dirty="0">
                <a:uFill>
                  <a:solidFill>
                    <a:srgbClr val="464646"/>
                  </a:solidFill>
                </a:uFill>
                <a:latin typeface="Trebuchet MS"/>
                <a:cs typeface="Trebuchet MS"/>
              </a:rPr>
              <a:t>Code:</a:t>
            </a:r>
            <a:r>
              <a:rPr sz="4100" u="heavy" spc="5" dirty="0">
                <a:uFill>
                  <a:solidFill>
                    <a:srgbClr val="464646"/>
                  </a:solidFill>
                </a:uFill>
                <a:latin typeface="Trebuchet MS"/>
                <a:cs typeface="Trebuchet MS"/>
              </a:rPr>
              <a:t> </a:t>
            </a:r>
            <a:r>
              <a:rPr sz="4100" u="heavy" spc="375" dirty="0">
                <a:uFill>
                  <a:solidFill>
                    <a:srgbClr val="464646"/>
                  </a:solidFill>
                </a:uFill>
                <a:latin typeface="Trebuchet MS"/>
                <a:cs typeface="Trebuchet MS"/>
              </a:rPr>
              <a:t>Flask</a:t>
            </a:r>
            <a:endParaRPr sz="4100" dirty="0">
              <a:latin typeface="Trebuchet MS"/>
              <a:cs typeface="Trebuchet MS"/>
            </a:endParaRPr>
          </a:p>
        </p:txBody>
      </p:sp>
      <p:sp>
        <p:nvSpPr>
          <p:cNvPr id="6" name="object 6"/>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22</a:t>
            </a:fld>
            <a:endParaRPr spc="-25" dirty="0"/>
          </a:p>
        </p:txBody>
      </p:sp>
      <p:sp>
        <p:nvSpPr>
          <p:cNvPr id="7" name="object 7"/>
          <p:cNvSpPr txBox="1"/>
          <p:nvPr/>
        </p:nvSpPr>
        <p:spPr>
          <a:xfrm>
            <a:off x="318750" y="6595864"/>
            <a:ext cx="1450340" cy="205104"/>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0" dirty="0">
                <a:latin typeface="Lucida Sans Unicode"/>
                <a:cs typeface="Lucida Sans Unicode"/>
              </a:rPr>
              <a:t> </a:t>
            </a:r>
            <a:r>
              <a:rPr sz="1200" dirty="0">
                <a:latin typeface="Lucida Sans Unicode"/>
                <a:cs typeface="Lucida Sans Unicode"/>
              </a:rPr>
              <a:t>9:</a:t>
            </a:r>
            <a:r>
              <a:rPr sz="1200" spc="-20" dirty="0">
                <a:latin typeface="Lucida Sans Unicode"/>
                <a:cs typeface="Lucida Sans Unicode"/>
              </a:rPr>
              <a:t> </a:t>
            </a:r>
            <a:r>
              <a:rPr sz="1200" dirty="0">
                <a:latin typeface="Lucida Sans Unicode"/>
                <a:cs typeface="Lucida Sans Unicode"/>
              </a:rPr>
              <a:t>App.py</a:t>
            </a:r>
            <a:r>
              <a:rPr sz="1200" spc="-15" dirty="0">
                <a:latin typeface="Lucida Sans Unicode"/>
                <a:cs typeface="Lucida Sans Unicode"/>
              </a:rPr>
              <a:t> </a:t>
            </a:r>
            <a:r>
              <a:rPr sz="1200" spc="-20" dirty="0">
                <a:latin typeface="Lucida Sans Unicode"/>
                <a:cs typeface="Lucida Sans Unicode"/>
              </a:rPr>
              <a:t>Code</a:t>
            </a:r>
            <a:endParaRPr sz="1200">
              <a:latin typeface="Lucida Sans Unicode"/>
              <a:cs typeface="Lucida Sans Unicode"/>
            </a:endParaRPr>
          </a:p>
        </p:txBody>
      </p:sp>
      <p:sp>
        <p:nvSpPr>
          <p:cNvPr id="8" name="object 8"/>
          <p:cNvSpPr txBox="1"/>
          <p:nvPr/>
        </p:nvSpPr>
        <p:spPr>
          <a:xfrm>
            <a:off x="5430449" y="6595864"/>
            <a:ext cx="211328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sz="1200" dirty="0">
                <a:latin typeface="Lucida Sans Unicode"/>
                <a:cs typeface="Lucida Sans Unicode"/>
              </a:rPr>
              <a:t>1</a:t>
            </a:r>
            <a:r>
              <a:rPr lang="en-US" sz="1200" dirty="0">
                <a:latin typeface="Lucida Sans Unicode"/>
                <a:cs typeface="Lucida Sans Unicode"/>
              </a:rPr>
              <a:t>6</a:t>
            </a:r>
            <a:r>
              <a:rPr sz="1200" dirty="0">
                <a:latin typeface="Lucida Sans Unicode"/>
                <a:cs typeface="Lucida Sans Unicode"/>
              </a:rPr>
              <a:t>:</a:t>
            </a:r>
            <a:r>
              <a:rPr sz="1200" spc="-25" dirty="0">
                <a:latin typeface="Lucida Sans Unicode"/>
                <a:cs typeface="Lucida Sans Unicode"/>
              </a:rPr>
              <a:t> </a:t>
            </a:r>
            <a:r>
              <a:rPr sz="1200" dirty="0">
                <a:latin typeface="Lucida Sans Unicode"/>
                <a:cs typeface="Lucida Sans Unicode"/>
              </a:rPr>
              <a:t>App.py</a:t>
            </a:r>
            <a:r>
              <a:rPr sz="1200" spc="-25" dirty="0">
                <a:latin typeface="Lucida Sans Unicode"/>
                <a:cs typeface="Lucida Sans Unicode"/>
              </a:rPr>
              <a:t> </a:t>
            </a:r>
            <a:r>
              <a:rPr sz="1200" dirty="0">
                <a:latin typeface="Lucida Sans Unicode"/>
                <a:cs typeface="Lucida Sans Unicode"/>
              </a:rPr>
              <a:t>Code</a:t>
            </a:r>
            <a:r>
              <a:rPr sz="1200" spc="-25" dirty="0">
                <a:latin typeface="Lucida Sans Unicode"/>
                <a:cs typeface="Lucida Sans Unicode"/>
              </a:rPr>
              <a:t> </a:t>
            </a:r>
            <a:r>
              <a:rPr sz="1200" spc="-10" dirty="0">
                <a:latin typeface="Lucida Sans Unicode"/>
                <a:cs typeface="Lucida Sans Unicode"/>
              </a:rPr>
              <a:t>(cont..)</a:t>
            </a:r>
            <a:endParaRPr sz="1200" dirty="0">
              <a:latin typeface="Lucida Sans Unicode"/>
              <a:cs typeface="Lucida Sans Unicode"/>
            </a:endParaRPr>
          </a:p>
        </p:txBody>
      </p:sp>
      <p:pic>
        <p:nvPicPr>
          <p:cNvPr id="10" name="Picture 9">
            <a:extLst>
              <a:ext uri="{FF2B5EF4-FFF2-40B4-BE49-F238E27FC236}">
                <a16:creationId xmlns:a16="http://schemas.microsoft.com/office/drawing/2014/main" id="{2CB82152-450E-2225-1E63-A8C64A9594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072" y="1447800"/>
            <a:ext cx="8709225" cy="4953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23</a:t>
            </a:fld>
            <a:endParaRPr spc="-25" dirty="0"/>
          </a:p>
        </p:txBody>
      </p:sp>
      <p:sp>
        <p:nvSpPr>
          <p:cNvPr id="4" name="object 4"/>
          <p:cNvSpPr txBox="1"/>
          <p:nvPr/>
        </p:nvSpPr>
        <p:spPr>
          <a:xfrm>
            <a:off x="4528925" y="6592939"/>
            <a:ext cx="211328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sz="1200" dirty="0">
                <a:latin typeface="Lucida Sans Unicode"/>
                <a:cs typeface="Lucida Sans Unicode"/>
              </a:rPr>
              <a:t>1</a:t>
            </a:r>
            <a:r>
              <a:rPr lang="en-US" sz="1200" dirty="0">
                <a:latin typeface="Lucida Sans Unicode"/>
                <a:cs typeface="Lucida Sans Unicode"/>
              </a:rPr>
              <a:t>7</a:t>
            </a:r>
            <a:r>
              <a:rPr sz="1200" dirty="0">
                <a:latin typeface="Lucida Sans Unicode"/>
                <a:cs typeface="Lucida Sans Unicode"/>
              </a:rPr>
              <a:t>:</a:t>
            </a:r>
            <a:r>
              <a:rPr sz="1200" spc="-25" dirty="0">
                <a:latin typeface="Lucida Sans Unicode"/>
                <a:cs typeface="Lucida Sans Unicode"/>
              </a:rPr>
              <a:t> </a:t>
            </a:r>
            <a:r>
              <a:rPr sz="1200" dirty="0">
                <a:latin typeface="Lucida Sans Unicode"/>
                <a:cs typeface="Lucida Sans Unicode"/>
              </a:rPr>
              <a:t>App.py</a:t>
            </a:r>
            <a:r>
              <a:rPr sz="1200" spc="-25" dirty="0">
                <a:latin typeface="Lucida Sans Unicode"/>
                <a:cs typeface="Lucida Sans Unicode"/>
              </a:rPr>
              <a:t> </a:t>
            </a:r>
            <a:r>
              <a:rPr sz="1200" dirty="0">
                <a:latin typeface="Lucida Sans Unicode"/>
                <a:cs typeface="Lucida Sans Unicode"/>
              </a:rPr>
              <a:t>Code</a:t>
            </a:r>
            <a:r>
              <a:rPr sz="1200" spc="-25" dirty="0">
                <a:latin typeface="Lucida Sans Unicode"/>
                <a:cs typeface="Lucida Sans Unicode"/>
              </a:rPr>
              <a:t> </a:t>
            </a:r>
            <a:r>
              <a:rPr sz="1200" spc="-10" dirty="0">
                <a:latin typeface="Lucida Sans Unicode"/>
                <a:cs typeface="Lucida Sans Unicode"/>
              </a:rPr>
              <a:t>(cont..)</a:t>
            </a:r>
            <a:endParaRPr sz="1200" dirty="0">
              <a:latin typeface="Lucida Sans Unicode"/>
              <a:cs typeface="Lucida Sans Unicode"/>
            </a:endParaRPr>
          </a:p>
        </p:txBody>
      </p:sp>
      <p:pic>
        <p:nvPicPr>
          <p:cNvPr id="6" name="Picture 5">
            <a:extLst>
              <a:ext uri="{FF2B5EF4-FFF2-40B4-BE49-F238E27FC236}">
                <a16:creationId xmlns:a16="http://schemas.microsoft.com/office/drawing/2014/main" id="{9ACAA357-FCE2-0BDF-725D-C8BC2926A8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457200"/>
            <a:ext cx="7772400" cy="55481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24</a:t>
            </a:fld>
            <a:endParaRPr spc="-25" dirty="0"/>
          </a:p>
        </p:txBody>
      </p:sp>
      <p:sp>
        <p:nvSpPr>
          <p:cNvPr id="4" name="object 4"/>
          <p:cNvSpPr txBox="1"/>
          <p:nvPr/>
        </p:nvSpPr>
        <p:spPr>
          <a:xfrm>
            <a:off x="4528925" y="6592939"/>
            <a:ext cx="2113280" cy="192360"/>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sz="1200" dirty="0">
                <a:latin typeface="Lucida Sans Unicode"/>
                <a:cs typeface="Lucida Sans Unicode"/>
              </a:rPr>
              <a:t>1</a:t>
            </a:r>
            <a:r>
              <a:rPr lang="en-US" sz="1200" dirty="0">
                <a:latin typeface="Lucida Sans Unicode"/>
                <a:cs typeface="Lucida Sans Unicode"/>
              </a:rPr>
              <a:t>8</a:t>
            </a:r>
            <a:r>
              <a:rPr sz="1200" dirty="0">
                <a:latin typeface="Lucida Sans Unicode"/>
                <a:cs typeface="Lucida Sans Unicode"/>
              </a:rPr>
              <a:t>:</a:t>
            </a:r>
            <a:r>
              <a:rPr sz="1200" spc="-25" dirty="0">
                <a:latin typeface="Lucida Sans Unicode"/>
                <a:cs typeface="Lucida Sans Unicode"/>
              </a:rPr>
              <a:t> </a:t>
            </a:r>
            <a:r>
              <a:rPr sz="1200" dirty="0">
                <a:latin typeface="Lucida Sans Unicode"/>
                <a:cs typeface="Lucida Sans Unicode"/>
              </a:rPr>
              <a:t>App.py</a:t>
            </a:r>
            <a:r>
              <a:rPr sz="1200" spc="-25" dirty="0">
                <a:latin typeface="Lucida Sans Unicode"/>
                <a:cs typeface="Lucida Sans Unicode"/>
              </a:rPr>
              <a:t> </a:t>
            </a:r>
            <a:r>
              <a:rPr sz="1200" dirty="0">
                <a:latin typeface="Lucida Sans Unicode"/>
                <a:cs typeface="Lucida Sans Unicode"/>
              </a:rPr>
              <a:t>Code</a:t>
            </a:r>
            <a:r>
              <a:rPr sz="1200" spc="-25" dirty="0">
                <a:latin typeface="Lucida Sans Unicode"/>
                <a:cs typeface="Lucida Sans Unicode"/>
              </a:rPr>
              <a:t> </a:t>
            </a:r>
            <a:r>
              <a:rPr sz="1200" spc="-10" dirty="0">
                <a:latin typeface="Lucida Sans Unicode"/>
                <a:cs typeface="Lucida Sans Unicode"/>
              </a:rPr>
              <a:t>(cont..)</a:t>
            </a:r>
            <a:endParaRPr sz="1200" dirty="0">
              <a:latin typeface="Lucida Sans Unicode"/>
              <a:cs typeface="Lucida Sans Unicode"/>
            </a:endParaRPr>
          </a:p>
        </p:txBody>
      </p:sp>
      <p:pic>
        <p:nvPicPr>
          <p:cNvPr id="5" name="Picture 4">
            <a:extLst>
              <a:ext uri="{FF2B5EF4-FFF2-40B4-BE49-F238E27FC236}">
                <a16:creationId xmlns:a16="http://schemas.microsoft.com/office/drawing/2014/main" id="{286DD83E-C34D-8DE9-B901-E383AFEFF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725" y="304800"/>
            <a:ext cx="7772400" cy="5914118"/>
          </a:xfrm>
          <a:prstGeom prst="rect">
            <a:avLst/>
          </a:prstGeom>
        </p:spPr>
      </p:pic>
    </p:spTree>
    <p:extLst>
      <p:ext uri="{BB962C8B-B14F-4D97-AF65-F5344CB8AC3E}">
        <p14:creationId xmlns:p14="http://schemas.microsoft.com/office/powerpoint/2010/main" val="3448085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92BA55-096D-5628-B95D-1D85767D7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304800"/>
            <a:ext cx="7772400" cy="5928550"/>
          </a:xfrm>
          <a:prstGeom prst="rect">
            <a:avLst/>
          </a:prstGeom>
        </p:spPr>
      </p:pic>
      <p:sp>
        <p:nvSpPr>
          <p:cNvPr id="5" name="TextBox 4">
            <a:extLst>
              <a:ext uri="{FF2B5EF4-FFF2-40B4-BE49-F238E27FC236}">
                <a16:creationId xmlns:a16="http://schemas.microsoft.com/office/drawing/2014/main" id="{596613D6-0FC5-1326-A4B9-55086F20FDD9}"/>
              </a:ext>
            </a:extLst>
          </p:cNvPr>
          <p:cNvSpPr txBox="1"/>
          <p:nvPr/>
        </p:nvSpPr>
        <p:spPr>
          <a:xfrm>
            <a:off x="3352800" y="6368534"/>
            <a:ext cx="4577860" cy="369332"/>
          </a:xfrm>
          <a:prstGeom prst="rect">
            <a:avLst/>
          </a:prstGeom>
          <a:noFill/>
        </p:spPr>
        <p:txBody>
          <a:bodyPr wrap="square">
            <a:spAutoFit/>
          </a:bodyPr>
          <a:lstStyle/>
          <a:p>
            <a:pPr marL="12700">
              <a:lnSpc>
                <a:spcPct val="100000"/>
              </a:lnSpc>
              <a:spcBef>
                <a:spcPts val="60"/>
              </a:spcBef>
            </a:pPr>
            <a:r>
              <a:rPr lang="en-IN" sz="1800" dirty="0">
                <a:latin typeface="Lucida Sans Unicode"/>
                <a:cs typeface="Lucida Sans Unicode"/>
              </a:rPr>
              <a:t>FIG</a:t>
            </a:r>
            <a:r>
              <a:rPr lang="en-IN" sz="1800" spc="-25" dirty="0">
                <a:latin typeface="Lucida Sans Unicode"/>
                <a:cs typeface="Lucida Sans Unicode"/>
              </a:rPr>
              <a:t> </a:t>
            </a:r>
            <a:r>
              <a:rPr lang="en-IN" sz="1800" dirty="0">
                <a:latin typeface="Lucida Sans Unicode"/>
                <a:cs typeface="Lucida Sans Unicode"/>
              </a:rPr>
              <a:t>19:</a:t>
            </a:r>
            <a:r>
              <a:rPr lang="en-IN" sz="1800" spc="-25" dirty="0">
                <a:latin typeface="Lucida Sans Unicode"/>
                <a:cs typeface="Lucida Sans Unicode"/>
              </a:rPr>
              <a:t> </a:t>
            </a:r>
            <a:r>
              <a:rPr lang="en-IN" sz="1800" dirty="0" err="1">
                <a:latin typeface="Lucida Sans Unicode"/>
                <a:cs typeface="Lucida Sans Unicode"/>
              </a:rPr>
              <a:t>App.py</a:t>
            </a:r>
            <a:r>
              <a:rPr lang="en-IN" sz="1800" spc="-25" dirty="0">
                <a:latin typeface="Lucida Sans Unicode"/>
                <a:cs typeface="Lucida Sans Unicode"/>
              </a:rPr>
              <a:t> </a:t>
            </a:r>
            <a:r>
              <a:rPr lang="en-IN" sz="1800" dirty="0">
                <a:latin typeface="Lucida Sans Unicode"/>
                <a:cs typeface="Lucida Sans Unicode"/>
              </a:rPr>
              <a:t>Code</a:t>
            </a:r>
            <a:r>
              <a:rPr lang="en-IN" sz="1800" spc="-25" dirty="0">
                <a:latin typeface="Lucida Sans Unicode"/>
                <a:cs typeface="Lucida Sans Unicode"/>
              </a:rPr>
              <a:t> </a:t>
            </a:r>
            <a:r>
              <a:rPr lang="en-IN" sz="1800" spc="-10" dirty="0">
                <a:latin typeface="Lucida Sans Unicode"/>
                <a:cs typeface="Lucida Sans Unicode"/>
              </a:rPr>
              <a:t>(cont..)</a:t>
            </a:r>
            <a:endParaRPr lang="en-IN" sz="1800" dirty="0">
              <a:latin typeface="Lucida Sans Unicode"/>
              <a:cs typeface="Lucida Sans Unicode"/>
            </a:endParaRPr>
          </a:p>
        </p:txBody>
      </p:sp>
    </p:spTree>
    <p:extLst>
      <p:ext uri="{BB962C8B-B14F-4D97-AF65-F5344CB8AC3E}">
        <p14:creationId xmlns:p14="http://schemas.microsoft.com/office/powerpoint/2010/main" val="2011652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7B47C4-A139-781C-8A25-77DED43F0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447800"/>
            <a:ext cx="7772400" cy="4838817"/>
          </a:xfrm>
          <a:prstGeom prst="rect">
            <a:avLst/>
          </a:prstGeom>
        </p:spPr>
      </p:pic>
      <p:sp>
        <p:nvSpPr>
          <p:cNvPr id="4" name="TextBox 3">
            <a:extLst>
              <a:ext uri="{FF2B5EF4-FFF2-40B4-BE49-F238E27FC236}">
                <a16:creationId xmlns:a16="http://schemas.microsoft.com/office/drawing/2014/main" id="{CEE20FEA-A144-4D7B-3956-E06539D0BED9}"/>
              </a:ext>
            </a:extLst>
          </p:cNvPr>
          <p:cNvSpPr txBox="1"/>
          <p:nvPr/>
        </p:nvSpPr>
        <p:spPr>
          <a:xfrm>
            <a:off x="685800" y="685800"/>
            <a:ext cx="296106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LOITERING DETECTION</a:t>
            </a:r>
          </a:p>
        </p:txBody>
      </p:sp>
      <p:sp>
        <p:nvSpPr>
          <p:cNvPr id="2" name="TextBox 1">
            <a:extLst>
              <a:ext uri="{FF2B5EF4-FFF2-40B4-BE49-F238E27FC236}">
                <a16:creationId xmlns:a16="http://schemas.microsoft.com/office/drawing/2014/main" id="{B33755A6-88FE-9F03-4692-17A465344D66}"/>
              </a:ext>
            </a:extLst>
          </p:cNvPr>
          <p:cNvSpPr txBox="1"/>
          <p:nvPr/>
        </p:nvSpPr>
        <p:spPr>
          <a:xfrm>
            <a:off x="3352800" y="6368534"/>
            <a:ext cx="4577860" cy="369332"/>
          </a:xfrm>
          <a:prstGeom prst="rect">
            <a:avLst/>
          </a:prstGeom>
          <a:noFill/>
        </p:spPr>
        <p:txBody>
          <a:bodyPr wrap="square">
            <a:spAutoFit/>
          </a:bodyPr>
          <a:lstStyle/>
          <a:p>
            <a:pPr marL="12700">
              <a:lnSpc>
                <a:spcPct val="100000"/>
              </a:lnSpc>
              <a:spcBef>
                <a:spcPts val="60"/>
              </a:spcBef>
            </a:pPr>
            <a:r>
              <a:rPr lang="en-IN" sz="1800" dirty="0">
                <a:latin typeface="Lucida Sans Unicode"/>
                <a:cs typeface="Lucida Sans Unicode"/>
              </a:rPr>
              <a:t>FIG</a:t>
            </a:r>
            <a:r>
              <a:rPr lang="en-IN" sz="1800" spc="-25" dirty="0">
                <a:latin typeface="Lucida Sans Unicode"/>
                <a:cs typeface="Lucida Sans Unicode"/>
              </a:rPr>
              <a:t> </a:t>
            </a:r>
            <a:r>
              <a:rPr lang="en-IN" spc="-25" dirty="0">
                <a:latin typeface="Lucida Sans Unicode"/>
                <a:cs typeface="Lucida Sans Unicode"/>
              </a:rPr>
              <a:t>20</a:t>
            </a:r>
            <a:r>
              <a:rPr lang="en-IN" sz="1800" dirty="0">
                <a:latin typeface="Lucida Sans Unicode"/>
                <a:cs typeface="Lucida Sans Unicode"/>
              </a:rPr>
              <a:t>:Test Image</a:t>
            </a:r>
          </a:p>
        </p:txBody>
      </p:sp>
    </p:spTree>
    <p:extLst>
      <p:ext uri="{BB962C8B-B14F-4D97-AF65-F5344CB8AC3E}">
        <p14:creationId xmlns:p14="http://schemas.microsoft.com/office/powerpoint/2010/main" val="584364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81000" y="2282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CONCLUSION</a:t>
            </a:r>
          </a:p>
        </p:txBody>
      </p:sp>
      <p:sp>
        <p:nvSpPr>
          <p:cNvPr id="39938" name="Content Placeholder 3"/>
          <p:cNvSpPr>
            <a:spLocks noGrp="1"/>
          </p:cNvSpPr>
          <p:nvPr>
            <p:ph idx="1"/>
          </p:nvPr>
        </p:nvSpPr>
        <p:spPr>
          <a:xfrm>
            <a:off x="689990" y="1309434"/>
            <a:ext cx="7998459" cy="4786566"/>
          </a:xfrm>
          <a:ln/>
        </p:spPr>
        <p:txBody>
          <a:bodyPr vert="horz" wrap="square" lIns="91440" tIns="45720" rIns="91440" bIns="45720" anchor="t" anchorCtr="0">
            <a:normAutofit/>
          </a:bodyPr>
          <a:lstStyle/>
          <a:p>
            <a:r>
              <a:rPr lang="en-US" sz="2000" dirty="0"/>
              <a:t>The AI-based </a:t>
            </a:r>
            <a:r>
              <a:rPr lang="en-US" sz="2000" b="1" dirty="0"/>
              <a:t>shoplifting detection system</a:t>
            </a:r>
            <a:r>
              <a:rPr lang="en-US" sz="2000" dirty="0"/>
              <a:t> significantly improves retail security by </a:t>
            </a:r>
            <a:r>
              <a:rPr lang="en-US" sz="2000" b="1" dirty="0"/>
              <a:t>automating theft detection through real-time object recognition and tracking</a:t>
            </a:r>
            <a:r>
              <a:rPr lang="en-US" sz="2000" dirty="0"/>
              <a:t>. Compared to traditional CCTV monitoring, this system offers </a:t>
            </a:r>
            <a:r>
              <a:rPr lang="en-US" sz="2000" b="1" dirty="0"/>
              <a:t>higher accuracy, real-time intervention, and reduced reliance on manual oversight</a:t>
            </a:r>
            <a:r>
              <a:rPr lang="en-US" sz="2000" dirty="0"/>
              <a:t>. </a:t>
            </a:r>
          </a:p>
          <a:p>
            <a:endParaRPr lang="en-US" sz="2000" dirty="0"/>
          </a:p>
          <a:p>
            <a:r>
              <a:rPr lang="en-US" sz="2000" dirty="0"/>
              <a:t>By </a:t>
            </a:r>
            <a:r>
              <a:rPr lang="en-US" sz="2000" b="1" dirty="0"/>
              <a:t>identifying loitering and concealment behaviors</a:t>
            </a:r>
            <a:r>
              <a:rPr lang="en-US" sz="2000" dirty="0"/>
              <a:t>, it provides early warnings to security personnel, </a:t>
            </a:r>
            <a:r>
              <a:rPr lang="en-US" sz="2000" b="1" dirty="0"/>
              <a:t>reducing financial losses from shoplifting</a:t>
            </a:r>
            <a:r>
              <a:rPr lang="en-US" sz="2000" dirty="0"/>
              <a:t>. Future enhancements could include </a:t>
            </a:r>
            <a:r>
              <a:rPr lang="en-US" sz="2000" b="1" dirty="0"/>
              <a:t>multi-camera integration, cloud-based monitoring, and predictive analytics</a:t>
            </a:r>
            <a:r>
              <a:rPr lang="en-US" sz="2000" dirty="0"/>
              <a:t> for more robust retail security.</a:t>
            </a:r>
          </a:p>
        </p:txBody>
      </p:sp>
      <p:sp>
        <p:nvSpPr>
          <p:cNvPr id="39939" name="Slide Number Placeholder 10"/>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marL="0" indent="0" algn="r" eaLnBrk="1" hangingPunct="1">
                <a:spcBef>
                  <a:spcPct val="0"/>
                </a:spcBef>
                <a:buClrTx/>
                <a:buSzTx/>
                <a:buFontTx/>
                <a:buNone/>
              </a:pPr>
              <a:t>27</a:t>
            </a:fld>
            <a:endParaRPr lang="en-US" altLang="en-US" sz="1000" dirty="0">
              <a:latin typeface="Arial" panose="020B0604020202020204" pitchFamily="34" charset="0"/>
            </a:endParaRPr>
          </a:p>
        </p:txBody>
      </p:sp>
      <p:sp>
        <p:nvSpPr>
          <p:cNvPr id="39941" name="Rectangle 2"/>
          <p:cNvSpPr/>
          <p:nvPr/>
        </p:nvSpPr>
        <p:spPr>
          <a:xfrm>
            <a:off x="533400" y="1752600"/>
            <a:ext cx="7543800" cy="738188"/>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800" dirty="0">
              <a:latin typeface="Gill Sans MT" panose="020B0502020104020203" pitchFamily="34" charset="0"/>
            </a:endParaRPr>
          </a:p>
          <a:p>
            <a:pPr marL="0" lvl="0" indent="0" algn="just" eaLnBrk="1" hangingPunct="1">
              <a:spcBef>
                <a:spcPct val="0"/>
              </a:spcBef>
              <a:buClrTx/>
              <a:buSzTx/>
              <a:buFontTx/>
              <a:buNone/>
            </a:pPr>
            <a:endParaRPr lang="en-US" altLang="en-US" sz="1800" dirty="0">
              <a:latin typeface="Gill Sans MT" panose="020B0502020104020203"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274638"/>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REFERENCE</a:t>
            </a:r>
          </a:p>
        </p:txBody>
      </p:sp>
      <p:sp>
        <p:nvSpPr>
          <p:cNvPr id="41986" name="Content Placeholder 2"/>
          <p:cNvSpPr>
            <a:spLocks noGrp="1"/>
          </p:cNvSpPr>
          <p:nvPr>
            <p:ph idx="1"/>
          </p:nvPr>
        </p:nvSpPr>
        <p:spPr>
          <a:xfrm>
            <a:off x="457200" y="1600200"/>
            <a:ext cx="8305800" cy="5105400"/>
          </a:xfrm>
          <a:solidFill>
            <a:schemeClr val="bg1"/>
          </a:solidFill>
          <a:ln/>
        </p:spPr>
        <p:txBody>
          <a:bodyPr vert="horz" wrap="square" lIns="91440" tIns="45720" rIns="91440" bIns="45720" anchor="t" anchorCtr="0"/>
          <a:lstStyle/>
          <a:p>
            <a:pPr algn="just" eaLnBrk="1" hangingPunct="1"/>
            <a:r>
              <a:rPr lang="en-IN" sz="2000" u="sng" dirty="0">
                <a:solidFill>
                  <a:schemeClr val="tx1"/>
                </a:solidFill>
                <a:sym typeface="+mn-ea"/>
                <a:hlinkClick r:id="rId3"/>
              </a:rPr>
              <a:t>https://universe.roboflow.com/stevens-institute-of-technology-xjltl/shoplifting-detection-oxvwp/model/1</a:t>
            </a:r>
            <a:endParaRPr lang="en-IN" sz="2000" u="sng" dirty="0">
              <a:solidFill>
                <a:schemeClr val="tx1"/>
              </a:solidFill>
              <a:sym typeface="+mn-ea"/>
            </a:endParaRPr>
          </a:p>
          <a:p>
            <a:pPr algn="just" eaLnBrk="1" hangingPunct="1"/>
            <a:endParaRPr lang="en-IN" sz="2000" u="sng" dirty="0">
              <a:solidFill>
                <a:schemeClr val="tx1"/>
              </a:solidFill>
              <a:sym typeface="+mn-ea"/>
              <a:hlinkClick r:id="rId4"/>
            </a:endParaRPr>
          </a:p>
          <a:p>
            <a:pPr algn="just" eaLnBrk="1" hangingPunct="1"/>
            <a:r>
              <a:rPr lang="en-IN" sz="2000" u="sng" dirty="0">
                <a:solidFill>
                  <a:schemeClr val="tx1"/>
                </a:solidFill>
                <a:sym typeface="+mn-ea"/>
                <a:hlinkClick r:id="rId4"/>
              </a:rPr>
              <a:t>https://www.kaggle.com/datasets/mateohervas/dcsass-dataset/code</a:t>
            </a:r>
            <a:endParaRPr lang="en-IN" sz="2000" u="sng" dirty="0">
              <a:solidFill>
                <a:schemeClr val="tx1"/>
              </a:solidFill>
              <a:sym typeface="+mn-ea"/>
            </a:endParaRPr>
          </a:p>
          <a:p>
            <a:pPr algn="just" eaLnBrk="1" hangingPunct="1"/>
            <a:endParaRPr lang="en-IN" sz="2000" u="sng" dirty="0">
              <a:solidFill>
                <a:schemeClr val="tx1"/>
              </a:solidFill>
              <a:sym typeface="+mn-ea"/>
              <a:hlinkClick r:id="rId5"/>
            </a:endParaRPr>
          </a:p>
          <a:p>
            <a:pPr algn="just" eaLnBrk="1" hangingPunct="1"/>
            <a:r>
              <a:rPr lang="en-IN" sz="2000" u="sng" dirty="0">
                <a:solidFill>
                  <a:schemeClr val="tx1"/>
                </a:solidFill>
                <a:sym typeface="+mn-ea"/>
                <a:hlinkClick r:id="rId5"/>
              </a:rPr>
              <a:t>https://www.mdpi.com/2076-3417/13/14/8341</a:t>
            </a:r>
            <a:endParaRPr lang="en-IN" sz="2000" u="sng" dirty="0">
              <a:solidFill>
                <a:schemeClr val="tx1"/>
              </a:solidFill>
              <a:sym typeface="+mn-ea"/>
            </a:endParaRPr>
          </a:p>
          <a:p>
            <a:pPr algn="just" eaLnBrk="1" hangingPunct="1"/>
            <a:endParaRPr lang="en-IN" sz="2000" u="sng" dirty="0">
              <a:sym typeface="+mn-ea"/>
            </a:endParaRPr>
          </a:p>
          <a:p>
            <a:pPr algn="just" eaLnBrk="1" hangingPunct="1"/>
            <a:r>
              <a:rPr lang="en-IN" sz="2000" u="sng" dirty="0">
                <a:solidFill>
                  <a:schemeClr val="tx1"/>
                </a:solidFill>
                <a:sym typeface="+mn-ea"/>
              </a:rPr>
              <a:t>https://ieeexplore.ieee.org/abstract/document/10707900 </a:t>
            </a:r>
            <a:endParaRPr lang="en-IN" altLang="en-US" sz="2000" u="sng" dirty="0">
              <a:solidFill>
                <a:schemeClr val="tx1"/>
              </a:solidFill>
            </a:endParaRPr>
          </a:p>
        </p:txBody>
      </p:sp>
      <p:sp>
        <p:nvSpPr>
          <p:cNvPr id="41987" name="Slide Number Placeholder 4"/>
          <p:cNvSpPr txBox="1">
            <a:spLocks noGrp="1"/>
          </p:cNvSpPr>
          <p:nvPr>
            <p:ph type="sldNum" sz="quarter" idx="12"/>
          </p:nvPr>
        </p:nvSpPr>
        <p:spPr>
          <a:prstGeom prst="rect">
            <a:avLst/>
          </a:prstGeom>
          <a:noFill/>
          <a:ln>
            <a:noFill/>
          </a:ln>
        </p:spPr>
        <p:txBody>
          <a:bodyPr vert="horz" lIns="91440" tIns="45720" rIns="91440" bIns="45720" rtlCol="0" anchor="ctr" anchorCtr="0"/>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eaLnBrk="1" hangingPunct="1">
              <a:spcBef>
                <a:spcPct val="0"/>
              </a:spcBef>
              <a:buClrTx/>
              <a:buSzTx/>
              <a:buFontTx/>
              <a:buNone/>
            </a:pPr>
            <a:fld id="{9A0DB2DC-4C9A-4742-B13C-FB6460FD3503}" type="slidenum">
              <a:rPr lang="en-US" altLang="en-US" smtClean="0">
                <a:latin typeface="Arial" panose="020B0604020202020204" pitchFamily="34" charset="0"/>
              </a:rPr>
              <a:pPr marL="0" indent="0" algn="r" eaLnBrk="1" hangingPunct="1">
                <a:spcBef>
                  <a:spcPct val="0"/>
                </a:spcBef>
                <a:buClrTx/>
                <a:buSzTx/>
                <a:buFontTx/>
                <a:buNone/>
              </a:pPr>
              <a:t>28</a:t>
            </a:fld>
            <a:endParaRPr lang="en-US" altLang="en-US" sz="100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3825" y="2714891"/>
            <a:ext cx="4137660" cy="726440"/>
          </a:xfrm>
          <a:prstGeom prst="rect">
            <a:avLst/>
          </a:prstGeom>
        </p:spPr>
        <p:txBody>
          <a:bodyPr vert="horz" wrap="square" lIns="0" tIns="12700" rIns="0" bIns="0" rtlCol="0">
            <a:spAutoFit/>
          </a:bodyPr>
          <a:lstStyle/>
          <a:p>
            <a:pPr marL="12700">
              <a:lnSpc>
                <a:spcPct val="100000"/>
              </a:lnSpc>
              <a:spcBef>
                <a:spcPts val="100"/>
              </a:spcBef>
            </a:pPr>
            <a:r>
              <a:rPr sz="4600" b="0" dirty="0">
                <a:solidFill>
                  <a:srgbClr val="000000"/>
                </a:solidFill>
                <a:latin typeface="Times New Roman"/>
                <a:cs typeface="Times New Roman"/>
              </a:rPr>
              <a:t>ANY</a:t>
            </a:r>
            <a:r>
              <a:rPr sz="4600" b="0" spc="-285" dirty="0">
                <a:solidFill>
                  <a:srgbClr val="000000"/>
                </a:solidFill>
                <a:latin typeface="Times New Roman"/>
                <a:cs typeface="Times New Roman"/>
              </a:rPr>
              <a:t> </a:t>
            </a:r>
            <a:r>
              <a:rPr sz="4600" b="0" spc="-10" dirty="0">
                <a:solidFill>
                  <a:srgbClr val="000000"/>
                </a:solidFill>
                <a:latin typeface="Times New Roman"/>
                <a:cs typeface="Times New Roman"/>
              </a:rPr>
              <a:t>QUERIES?</a:t>
            </a:r>
            <a:endParaRPr sz="4600">
              <a:latin typeface="Times New Roman"/>
              <a:cs typeface="Times New Roman"/>
            </a:endParaRPr>
          </a:p>
        </p:txBody>
      </p:sp>
      <p:sp>
        <p:nvSpPr>
          <p:cNvPr id="4" name="object 4"/>
          <p:cNvSpPr txBox="1">
            <a:spLocks noGrp="1"/>
          </p:cNvSpPr>
          <p:nvPr>
            <p:ph type="sldNum" sz="quarter" idx="12"/>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t>29</a:t>
            </a:fld>
            <a:endParaRPr spc="-25" dirty="0"/>
          </a:p>
        </p:txBody>
      </p:sp>
      <p:sp>
        <p:nvSpPr>
          <p:cNvPr id="3" name="object 3"/>
          <p:cNvSpPr txBox="1"/>
          <p:nvPr/>
        </p:nvSpPr>
        <p:spPr>
          <a:xfrm>
            <a:off x="6800850" y="6577613"/>
            <a:ext cx="581025" cy="167640"/>
          </a:xfrm>
          <a:prstGeom prst="rect">
            <a:avLst/>
          </a:prstGeom>
        </p:spPr>
        <p:txBody>
          <a:bodyPr vert="horz" wrap="square" lIns="0" tIns="635" rIns="0" bIns="0" rtlCol="0">
            <a:spAutoFit/>
          </a:bodyPr>
          <a:lstStyle/>
          <a:p>
            <a:pPr marL="12700">
              <a:lnSpc>
                <a:spcPct val="100000"/>
              </a:lnSpc>
              <a:spcBef>
                <a:spcPts val="5"/>
              </a:spcBef>
            </a:pPr>
            <a:r>
              <a:rPr sz="1000" spc="-10" dirty="0">
                <a:latin typeface="Arial MT"/>
                <a:cs typeface="Arial MT"/>
              </a:rPr>
              <a:t>2/28/2011</a:t>
            </a:r>
            <a:endParaRPr sz="10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TotalTime>
  <Words>1038</Words>
  <Application>Microsoft Macintosh PowerPoint</Application>
  <PresentationFormat>On-screen Show (4:3)</PresentationFormat>
  <Paragraphs>148</Paragraphs>
  <Slides>29</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Arial</vt:lpstr>
      <vt:lpstr>Arial MT</vt:lpstr>
      <vt:lpstr>Calibri</vt:lpstr>
      <vt:lpstr>Calibri Light</vt:lpstr>
      <vt:lpstr>Gill Sans MT</vt:lpstr>
      <vt:lpstr>Inter</vt:lpstr>
      <vt:lpstr>Lucida Sans Unicode</vt:lpstr>
      <vt:lpstr>Times New Roman</vt:lpstr>
      <vt:lpstr>Trebuchet MS</vt:lpstr>
      <vt:lpstr>Wingdings</vt:lpstr>
      <vt:lpstr>Wingdings 3</vt:lpstr>
      <vt:lpstr>Office Theme</vt:lpstr>
      <vt:lpstr>PowerPoint Presentation</vt:lpstr>
      <vt:lpstr>Abstract</vt:lpstr>
      <vt:lpstr>EXISTING SYSTEM </vt:lpstr>
      <vt:lpstr>PROPOSED SYSTEM</vt:lpstr>
      <vt:lpstr>SYSTEM REQUIREMENT</vt:lpstr>
      <vt:lpstr>Literature survey</vt:lpstr>
      <vt:lpstr>ARCHITECTURE DIAGRAM</vt:lpstr>
      <vt:lpstr>USE CASE DIAGRAM</vt:lpstr>
      <vt:lpstr>      CLASS DIAGRAM  </vt:lpstr>
      <vt:lpstr>SEQUENCE DIAGRAM</vt:lpstr>
      <vt:lpstr>CODEBASE STRUCTURE</vt:lpstr>
      <vt:lpstr>Frontend: React.js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Backend Code: Flask</vt:lpstr>
      <vt:lpstr>PowerPoint Presentation</vt:lpstr>
      <vt:lpstr>PowerPoint Presentation</vt:lpstr>
      <vt:lpstr>PowerPoint Presentation</vt:lpstr>
      <vt:lpstr>PowerPoint Presentation</vt:lpstr>
      <vt:lpstr>CONCLUSION</vt:lpstr>
      <vt:lpstr>REFERENCE</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Seminar.pptx</dc:title>
  <cp:lastModifiedBy>Abhi Ch</cp:lastModifiedBy>
  <cp:revision>9</cp:revision>
  <dcterms:created xsi:type="dcterms:W3CDTF">2025-03-21T15:46:53Z</dcterms:created>
  <dcterms:modified xsi:type="dcterms:W3CDTF">2025-03-22T03:53:08Z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2025-03-21T00:00:00Z</vt:filetime>
  </property>
  <property fmtid="{D5CDD505-2E9C-101B-9397-08002B2CF9AE}" pid="3" name="Creator">
    <vt:lpwstr>Google</vt:lpwstr>
  </property>
  <property fmtid="{D5CDD505-2E9C-101B-9397-08002B2CF9AE}" pid="4" name="LastSaved">
    <vt:filetime>2025-03-21T00:00:00Z</vt:filetime>
  </property>
</Properties>
</file>