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2" r:id="rId1"/>
  </p:sldMasterIdLst>
  <p:notesMasterIdLst>
    <p:notesMasterId r:id="rId17"/>
  </p:notesMasterIdLst>
  <p:sldIdLst>
    <p:sldId id="369" r:id="rId2"/>
    <p:sldId id="307" r:id="rId3"/>
    <p:sldId id="313" r:id="rId4"/>
    <p:sldId id="302" r:id="rId5"/>
    <p:sldId id="305" r:id="rId6"/>
    <p:sldId id="343" r:id="rId7"/>
    <p:sldId id="279" r:id="rId8"/>
    <p:sldId id="371" r:id="rId9"/>
    <p:sldId id="278" r:id="rId10"/>
    <p:sldId id="334" r:id="rId11"/>
    <p:sldId id="299" r:id="rId12"/>
    <p:sldId id="273" r:id="rId13"/>
    <p:sldId id="304" r:id="rId14"/>
    <p:sldId id="315" r:id="rId15"/>
    <p:sldId id="36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2"/>
    <p:restoredTop sz="94694"/>
  </p:normalViewPr>
  <p:slideViewPr>
    <p:cSldViewPr showGuides="1">
      <p:cViewPr varScale="1">
        <p:scale>
          <a:sx n="109" d="100"/>
          <a:sy n="109" d="100"/>
        </p:scale>
        <p:origin x="174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2928FB7-6DC8-4A04-B5D9-069C0301B7DF}"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defRPr/>
              </a:pPr>
              <a:t>3/21/25</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p>
            <a:pPr lvl="0" algn="r" eaLnBrk="1" hangingPunct="1"/>
            <a:fld id="{9A0DB2DC-4C9A-4742-B13C-FB6460FD3503}" type="slidenum">
              <a:rPr lang="en-US" altLang="en-US" sz="1200" dirty="0"/>
              <a:pPr lvl="0" algn="r" eaLnBrk="1" hangingPunct="1"/>
              <a:t>‹#›</a:t>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35843" name="Rectangle 2"/>
          <p:cNvSpPr>
            <a:spLocks noGrp="1" noChangeArrowheads="1"/>
          </p:cNvSpPr>
          <p:nvPr>
            <p:ph type="body" idx="1"/>
          </p:nvPr>
        </p:nvSpPr>
        <p:spPr bwMode="auto">
          <a:noFill/>
        </p:spPr>
        <p:txBody>
          <a:bodyPr wrap="none" numCol="1" anchor="ctr" anchorCtr="0" compatLnSpc="1">
            <a:prstTxWarp prst="textNoShape">
              <a:avLst/>
            </a:prstTxWarp>
          </a:bodyPr>
          <a:lstStyle/>
          <a:p>
            <a:endParaRPr 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alpha val="100000"/>
              </a:srgbClr>
            </a:solidFill>
            <a:miter lim="800000"/>
          </a:ln>
        </p:spPr>
      </p:sp>
      <p:sp>
        <p:nvSpPr>
          <p:cNvPr id="16387"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1638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4</a:t>
            </a:fld>
            <a:endParaRPr lang="en-US"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a:solidFill>
              <a:srgbClr val="000000">
                <a:alpha val="100000"/>
              </a:srgbClr>
            </a:solidFill>
            <a:miter lim="800000"/>
          </a:ln>
        </p:spPr>
      </p:sp>
      <p:sp>
        <p:nvSpPr>
          <p:cNvPr id="18435"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1843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5</a:t>
            </a:fld>
            <a:endParaRPr lang="en-US"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a:solidFill>
              <a:srgbClr val="000000">
                <a:alpha val="100000"/>
              </a:srgbClr>
            </a:solidFill>
            <a:miter lim="800000"/>
          </a:ln>
        </p:spPr>
      </p:sp>
      <p:sp>
        <p:nvSpPr>
          <p:cNvPr id="25603"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56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7</a:t>
            </a:fld>
            <a:endParaRPr lang="en-US"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C50A8-B59C-41EE-9252-BD5EFD0F718F}"/>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2DF7CC2-E603-B0B5-B6F4-3E092E39793D}"/>
              </a:ext>
            </a:extLst>
          </p:cNvPr>
          <p:cNvSpPr>
            <a:spLocks noGrp="1" noRot="1" noChangeAspect="1" noTextEdit="1"/>
          </p:cNvSpPr>
          <p:nvPr>
            <p:ph type="sldImg"/>
          </p:nvPr>
        </p:nvSpPr>
        <p:spPr>
          <a:ln>
            <a:solidFill>
              <a:srgbClr val="000000">
                <a:alpha val="100000"/>
              </a:srgbClr>
            </a:solidFill>
            <a:miter lim="800000"/>
          </a:ln>
        </p:spPr>
      </p:sp>
      <p:sp>
        <p:nvSpPr>
          <p:cNvPr id="25603" name="Notes Placeholder 2">
            <a:extLst>
              <a:ext uri="{FF2B5EF4-FFF2-40B4-BE49-F238E27FC236}">
                <a16:creationId xmlns:a16="http://schemas.microsoft.com/office/drawing/2014/main" id="{690DE491-23E5-5ECD-12B5-B78F349CD348}"/>
              </a:ext>
            </a:extLst>
          </p:cNvPr>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5604" name="Slide Number Placeholder 3">
            <a:extLst>
              <a:ext uri="{FF2B5EF4-FFF2-40B4-BE49-F238E27FC236}">
                <a16:creationId xmlns:a16="http://schemas.microsoft.com/office/drawing/2014/main" id="{8466627F-3EA7-FD5C-4AFB-91B1BA38E9D6}"/>
              </a:ext>
            </a:extLst>
          </p:cNvPr>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8</a:t>
            </a:fld>
            <a:endParaRPr lang="en-US" altLang="en-US" dirty="0">
              <a:latin typeface="Arial" panose="020B0604020202020204" pitchFamily="34" charset="0"/>
            </a:endParaRPr>
          </a:p>
        </p:txBody>
      </p:sp>
    </p:spTree>
    <p:extLst>
      <p:ext uri="{BB962C8B-B14F-4D97-AF65-F5344CB8AC3E}">
        <p14:creationId xmlns:p14="http://schemas.microsoft.com/office/powerpoint/2010/main" val="894548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a:solidFill>
              <a:srgbClr val="000000">
                <a:alpha val="100000"/>
              </a:srgbClr>
            </a:solidFill>
            <a:miter lim="800000"/>
          </a:ln>
        </p:spPr>
      </p:sp>
      <p:sp>
        <p:nvSpPr>
          <p:cNvPr id="27651"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2765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9</a:t>
            </a:fld>
            <a:endParaRPr lang="en-US"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a:solidFill>
              <a:srgbClr val="000000">
                <a:alpha val="100000"/>
              </a:srgbClr>
            </a:solidFill>
            <a:miter lim="800000"/>
          </a:ln>
        </p:spPr>
      </p:sp>
      <p:sp>
        <p:nvSpPr>
          <p:cNvPr id="40963"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4096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11</a:t>
            </a:fld>
            <a:endParaRPr lang="en-US" altLang="en-US"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a:solidFill>
              <a:srgbClr val="000000">
                <a:alpha val="100000"/>
              </a:srgbClr>
            </a:solidFill>
            <a:miter lim="800000"/>
          </a:ln>
        </p:spPr>
      </p:sp>
      <p:sp>
        <p:nvSpPr>
          <p:cNvPr id="43011" name="Notes Placeholder 2"/>
          <p:cNvSpPr>
            <a:spLocks noGrp="1"/>
          </p:cNvSpPr>
          <p:nvPr>
            <p:ph type="body" idx="1"/>
          </p:nvPr>
        </p:nvSpPr>
        <p:spPr>
          <a:noFill/>
          <a:ln>
            <a:noFill/>
          </a:ln>
        </p:spPr>
        <p:txBody>
          <a:bodyPr wrap="square" lIns="91440" tIns="45720" rIns="91440" bIns="45720" anchor="t" anchorCtr="0"/>
          <a:lstStyle/>
          <a:p>
            <a:pPr lvl="0"/>
            <a:endParaRPr lang="en-US" altLang="en-US" dirty="0"/>
          </a:p>
        </p:txBody>
      </p:sp>
      <p:sp>
        <p:nvSpPr>
          <p:cNvPr id="4301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en-US" dirty="0">
                <a:latin typeface="Arial" panose="020B0604020202020204" pitchFamily="34" charset="0"/>
              </a:rPr>
              <a:pPr lvl="0" algn="r" eaLnBrk="1" hangingPunct="1">
                <a:spcBef>
                  <a:spcPct val="0"/>
                </a:spcBef>
              </a:pPr>
              <a:t>13</a:t>
            </a:fld>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7DB02-24F4-0D64-4A61-CE971F5FA9A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FB08AE0-18CD-9227-0174-E86128E447E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A13B04-102B-A4EC-24E7-F450A2E5058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AFAEBC8E-FA94-26D3-4960-965B31801712}"/>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accent1">
                  <a:tint val="20000"/>
                </a:schemeClr>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F09D17B2-33D3-74E9-93CE-B464FCC23679}"/>
              </a:ext>
            </a:extLst>
          </p:cNvPr>
          <p:cNvSpPr>
            <a:spLocks noGrp="1"/>
          </p:cNvSpPr>
          <p:nvPr>
            <p:ph type="sldNum" sz="quarter" idx="12"/>
          </p:nvPr>
        </p:nvSpPr>
        <p:spPr/>
        <p:txBody>
          <a:bodyPr/>
          <a:lstStyle/>
          <a:p>
            <a:pPr algn="r" eaLnBrk="1" hangingPunct="1"/>
            <a:fld id="{9A0DB2DC-4C9A-4742-B13C-FB6460FD3503}" type="slidenum">
              <a:rPr lang="en-US" altLang="en-US" smtClean="0">
                <a:solidFill>
                  <a:srgbClr val="FFFFFF"/>
                </a:solidFill>
              </a:rPr>
              <a:pPr algn="r" eaLnBrk="1" hangingPunct="1"/>
              <a:t>‹#›</a:t>
            </a:fld>
            <a:endParaRPr lang="en-US" altLang="en-US" dirty="0">
              <a:solidFill>
                <a:srgbClr val="FFFFFF"/>
              </a:solidFill>
            </a:endParaRPr>
          </a:p>
        </p:txBody>
      </p:sp>
    </p:spTree>
    <p:extLst>
      <p:ext uri="{BB962C8B-B14F-4D97-AF65-F5344CB8AC3E}">
        <p14:creationId xmlns:p14="http://schemas.microsoft.com/office/powerpoint/2010/main" val="192955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647D-8F5A-C776-D28A-84B8E0D39C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A1E059-3724-47D1-58C4-7176A8E1F8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0B6467-34C2-189C-64AD-CE326FBACC1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21FB305F-1D1B-329D-C6BE-499EB4C19C8C}"/>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FEB10005-605D-D5D6-E841-F4ECF0453FD2}"/>
              </a:ext>
            </a:extLst>
          </p:cNvPr>
          <p:cNvSpPr>
            <a:spLocks noGrp="1"/>
          </p:cNvSpPr>
          <p:nvPr>
            <p:ph type="sldNum" sz="quarter" idx="12"/>
          </p:nvPr>
        </p:nvSpPr>
        <p:spPr/>
        <p:txBody>
          <a:bodyPr/>
          <a:lstStyle/>
          <a:p>
            <a:pPr lvl="0" eaLnBrk="1" hangingPunct="1"/>
            <a:fld id="{9A0DB2DC-4C9A-4742-B13C-FB6460FD3503}" type="slidenum">
              <a:rPr lang="en-US" altLang="en-US" smtClean="0">
                <a:latin typeface="Arial" panose="020B0604020202020204" pitchFamily="34" charset="0"/>
              </a:rPr>
              <a:pPr lvl="0" eaLnBrk="1" hangingPunct="1"/>
              <a:t>‹#›</a:t>
            </a:fld>
            <a:endParaRPr lang="en-US" altLang="en-US" dirty="0">
              <a:latin typeface="Arial" panose="020B0604020202020204" pitchFamily="34" charset="0"/>
            </a:endParaRPr>
          </a:p>
        </p:txBody>
      </p:sp>
    </p:spTree>
    <p:extLst>
      <p:ext uri="{BB962C8B-B14F-4D97-AF65-F5344CB8AC3E}">
        <p14:creationId xmlns:p14="http://schemas.microsoft.com/office/powerpoint/2010/main" val="358603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C1CF2-D21F-D090-744D-19A71F3F417C}"/>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B99DC3-0858-7D79-55F7-66EA6F3FD48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08AFB2-58AB-4F17-237A-79A6DCB800EA}"/>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3D050217-F8A2-DE77-A378-DAF3F37B3263}"/>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E4FC8D23-4EBA-D6F1-6909-4CDDECA69D1F}"/>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3827156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0AF2-1621-E6EC-3B4E-1DB3608A6F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13AA8-10FF-D7B2-DE7D-34C90F5B52F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124CD4-1CE6-4B80-BFF8-84AACB8A1B2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75C12D-8F54-658A-5731-2DC84275AAD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6" name="Footer Placeholder 5">
            <a:extLst>
              <a:ext uri="{FF2B5EF4-FFF2-40B4-BE49-F238E27FC236}">
                <a16:creationId xmlns:a16="http://schemas.microsoft.com/office/drawing/2014/main" id="{0051F55C-FB75-5955-D99C-CDE3FE8BFD58}"/>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a:extLst>
              <a:ext uri="{FF2B5EF4-FFF2-40B4-BE49-F238E27FC236}">
                <a16:creationId xmlns:a16="http://schemas.microsoft.com/office/drawing/2014/main" id="{C75BD673-110A-8253-EE8A-D207A2276046}"/>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1083651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B1CDC-9CA0-C4BA-CA6D-FC4B67A5206A}"/>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163DC-7CA1-8C2E-D7C9-462F30CFD93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C8F1B-B910-E733-5B77-B408E3A5071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3E6E85-9489-C519-C0B0-950120287BB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4A07109-C5E7-8608-C4F6-3E16BDC784B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8E610A-AF82-AD1F-FF97-3F368D562F19}"/>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8" name="Footer Placeholder 7">
            <a:extLst>
              <a:ext uri="{FF2B5EF4-FFF2-40B4-BE49-F238E27FC236}">
                <a16:creationId xmlns:a16="http://schemas.microsoft.com/office/drawing/2014/main" id="{AFB90BB5-3D70-B9DF-5A1F-A56B5C4FE254}"/>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Slide Number Placeholder 8">
            <a:extLst>
              <a:ext uri="{FF2B5EF4-FFF2-40B4-BE49-F238E27FC236}">
                <a16:creationId xmlns:a16="http://schemas.microsoft.com/office/drawing/2014/main" id="{0BB29A47-1C9C-D1F6-AB9D-13222E31DC85}"/>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2865721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5F53A-24B6-F385-4BF0-232E00B56B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E3B3E5-7BB6-3677-C015-8FA45ECC743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4" name="Footer Placeholder 3">
            <a:extLst>
              <a:ext uri="{FF2B5EF4-FFF2-40B4-BE49-F238E27FC236}">
                <a16:creationId xmlns:a16="http://schemas.microsoft.com/office/drawing/2014/main" id="{0C2552B1-6965-534A-0482-C5D89FC76371}"/>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a:extLst>
              <a:ext uri="{FF2B5EF4-FFF2-40B4-BE49-F238E27FC236}">
                <a16:creationId xmlns:a16="http://schemas.microsoft.com/office/drawing/2014/main" id="{042674B2-AC69-A004-63FA-5E7DD5E2245C}"/>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87966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5DE048-BFFC-CD31-D52C-FE902FABFAE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3" name="Footer Placeholder 2">
            <a:extLst>
              <a:ext uri="{FF2B5EF4-FFF2-40B4-BE49-F238E27FC236}">
                <a16:creationId xmlns:a16="http://schemas.microsoft.com/office/drawing/2014/main" id="{FD4F481B-D710-ABDE-138C-949B6DF4CCE0}"/>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a:extLst>
              <a:ext uri="{FF2B5EF4-FFF2-40B4-BE49-F238E27FC236}">
                <a16:creationId xmlns:a16="http://schemas.microsoft.com/office/drawing/2014/main" id="{07E625C3-6679-714E-BEE1-7FE031E4552E}"/>
              </a:ext>
            </a:extLst>
          </p:cNvPr>
          <p:cNvSpPr>
            <a:spLocks noGrp="1"/>
          </p:cNvSpPr>
          <p:nvPr>
            <p:ph type="sldNum" sz="quarter" idx="12"/>
          </p:nvPr>
        </p:nvSpPr>
        <p:spPr/>
        <p:txBody>
          <a:bodyPr/>
          <a:lstStyle/>
          <a:p>
            <a:pPr lvl="0" eaLnBrk="1" hangingPunct="1"/>
            <a:fld id="{9A0DB2DC-4C9A-4742-B13C-FB6460FD3503}" type="slidenum">
              <a:rPr lang="en-US" altLang="en-US" smtClean="0">
                <a:latin typeface="Arial" panose="020B0604020202020204" pitchFamily="34" charset="0"/>
              </a:rPr>
              <a:pPr lvl="0" eaLnBrk="1" hangingPunct="1"/>
              <a:t>‹#›</a:t>
            </a:fld>
            <a:endParaRPr lang="en-US" altLang="en-US" dirty="0">
              <a:latin typeface="Arial" panose="020B0604020202020204" pitchFamily="34" charset="0"/>
            </a:endParaRPr>
          </a:p>
        </p:txBody>
      </p:sp>
    </p:spTree>
    <p:extLst>
      <p:ext uri="{BB962C8B-B14F-4D97-AF65-F5344CB8AC3E}">
        <p14:creationId xmlns:p14="http://schemas.microsoft.com/office/powerpoint/2010/main" val="2979118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C8C3-890F-7797-D89A-775C3E2222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F3E512-5C46-FC5E-41DA-20B6BB0B3E9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8B3A80-82FE-13D8-7286-862EB215E7B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ACF3D67-29C0-EA3F-5700-5EAC480415E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6" name="Footer Placeholder 5">
            <a:extLst>
              <a:ext uri="{FF2B5EF4-FFF2-40B4-BE49-F238E27FC236}">
                <a16:creationId xmlns:a16="http://schemas.microsoft.com/office/drawing/2014/main" id="{7BF708A1-4715-ED48-AB8A-BAE027EA7236}"/>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a:extLst>
              <a:ext uri="{FF2B5EF4-FFF2-40B4-BE49-F238E27FC236}">
                <a16:creationId xmlns:a16="http://schemas.microsoft.com/office/drawing/2014/main" id="{5E868967-7239-BFFE-56D6-C26F716F2450}"/>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26531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9E363-960C-640F-38AF-565950A839E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F13255-6ADF-F65B-50F7-D3870AA19DF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032A181E-62FD-17BC-FD94-2C726DE134D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ABFDFF1-8411-E588-883B-1EA828C8BA1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6" name="Footer Placeholder 5">
            <a:extLst>
              <a:ext uri="{FF2B5EF4-FFF2-40B4-BE49-F238E27FC236}">
                <a16:creationId xmlns:a16="http://schemas.microsoft.com/office/drawing/2014/main" id="{26DCD8E5-8B54-9526-BDF7-26A47D6FE388}"/>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a:extLst>
              <a:ext uri="{FF2B5EF4-FFF2-40B4-BE49-F238E27FC236}">
                <a16:creationId xmlns:a16="http://schemas.microsoft.com/office/drawing/2014/main" id="{AEB3C2B8-8499-D7C5-B5F4-A8D61423CDF6}"/>
              </a:ext>
            </a:extLst>
          </p:cNvPr>
          <p:cNvSpPr>
            <a:spLocks noGrp="1"/>
          </p:cNvSpPr>
          <p:nvPr>
            <p:ph type="sldNum" sz="quarter" idx="12"/>
          </p:nvPr>
        </p:nvSpPr>
        <p:spPr/>
        <p:txBody>
          <a:bodyPr/>
          <a:lstStyle/>
          <a:p>
            <a:pPr algn="r" eaLnBrk="1" hangingPunct="1"/>
            <a:fld id="{9A0DB2DC-4C9A-4742-B13C-FB6460FD3503}" type="slidenum">
              <a:rPr lang="en-US" altLang="en-US" smtClean="0"/>
              <a:pPr algn="r" eaLnBrk="1" hangingPunct="1"/>
              <a:t>‹#›</a:t>
            </a:fld>
            <a:endParaRPr lang="en-US" altLang="en-US" dirty="0"/>
          </a:p>
        </p:txBody>
      </p:sp>
    </p:spTree>
    <p:extLst>
      <p:ext uri="{BB962C8B-B14F-4D97-AF65-F5344CB8AC3E}">
        <p14:creationId xmlns:p14="http://schemas.microsoft.com/office/powerpoint/2010/main" val="246233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647F-D163-A82C-5AFB-2F203D6E2F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C3B7A9-6576-8F46-1E0E-EB0E2436D2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209E1C-8B54-C5B4-835A-F16BAF50AD5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9645872E-FDAF-F081-9894-27A02851FCFB}"/>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47FCA3BE-1DC8-A473-9B24-DF5C5B849ABA}"/>
              </a:ext>
            </a:extLst>
          </p:cNvPr>
          <p:cNvSpPr>
            <a:spLocks noGrp="1"/>
          </p:cNvSpPr>
          <p:nvPr>
            <p:ph type="sldNum" sz="quarter" idx="12"/>
          </p:nvPr>
        </p:nvSpPr>
        <p:spPr/>
        <p:txBody>
          <a:bodyPr/>
          <a:lstStyle/>
          <a:p>
            <a:pPr lvl="0" eaLnBrk="1" hangingPunct="1"/>
            <a:fld id="{9A0DB2DC-4C9A-4742-B13C-FB6460FD3503}" type="slidenum">
              <a:rPr lang="en-US" altLang="en-US" smtClean="0">
                <a:latin typeface="Arial" panose="020B0604020202020204" pitchFamily="34" charset="0"/>
              </a:rPr>
              <a:pPr lvl="0" eaLnBrk="1" hangingPunct="1"/>
              <a:t>‹#›</a:t>
            </a:fld>
            <a:endParaRPr lang="en-US" altLang="en-US" dirty="0">
              <a:latin typeface="Arial" panose="020B0604020202020204" pitchFamily="34" charset="0"/>
            </a:endParaRPr>
          </a:p>
        </p:txBody>
      </p:sp>
    </p:spTree>
    <p:extLst>
      <p:ext uri="{BB962C8B-B14F-4D97-AF65-F5344CB8AC3E}">
        <p14:creationId xmlns:p14="http://schemas.microsoft.com/office/powerpoint/2010/main" val="2135661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C0D905-65B4-CA11-C1C2-C8BF491E0763}"/>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95CB9D-1B12-E3F7-E6AD-5B5831D504F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8C8CF8-D564-EFE3-0476-CD39890D628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4CD78CA4-312B-8669-5F37-FD203184D267}"/>
              </a:ext>
            </a:extLst>
          </p:cNvPr>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137DFA0D-5DEE-4CE9-3D0A-782CD62EE3E0}"/>
              </a:ext>
            </a:extLst>
          </p:cNvPr>
          <p:cNvSpPr>
            <a:spLocks noGrp="1"/>
          </p:cNvSpPr>
          <p:nvPr>
            <p:ph type="sldNum" sz="quarter" idx="12"/>
          </p:nvPr>
        </p:nvSpPr>
        <p:spPr/>
        <p:txBody>
          <a:bodyPr/>
          <a:lstStyle/>
          <a:p>
            <a:pPr lvl="0" eaLnBrk="1" hangingPunct="1"/>
            <a:fld id="{9A0DB2DC-4C9A-4742-B13C-FB6460FD3503}" type="slidenum">
              <a:rPr lang="en-US" altLang="en-US" smtClean="0">
                <a:latin typeface="Arial" panose="020B0604020202020204" pitchFamily="34" charset="0"/>
              </a:rPr>
              <a:pPr lvl="0" eaLnBrk="1" hangingPunct="1"/>
              <a:t>‹#›</a:t>
            </a:fld>
            <a:endParaRPr lang="en-US" altLang="en-US" dirty="0">
              <a:latin typeface="Arial" panose="020B0604020202020204" pitchFamily="34" charset="0"/>
            </a:endParaRPr>
          </a:p>
        </p:txBody>
      </p:sp>
    </p:spTree>
    <p:extLst>
      <p:ext uri="{BB962C8B-B14F-4D97-AF65-F5344CB8AC3E}">
        <p14:creationId xmlns:p14="http://schemas.microsoft.com/office/powerpoint/2010/main" val="109363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EDA2A4-0347-DFFE-5AC8-022DED34D3F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9A455-A064-239D-6B36-8FB5A3F3CF4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B9F315-4618-BFF0-9157-411B4EE1F4F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
        <p:nvSpPr>
          <p:cNvPr id="5" name="Footer Placeholder 4">
            <a:extLst>
              <a:ext uri="{FF2B5EF4-FFF2-40B4-BE49-F238E27FC236}">
                <a16:creationId xmlns:a16="http://schemas.microsoft.com/office/drawing/2014/main" id="{5B8503FB-A943-AD8D-459B-BC1D0AE3A8D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a:extLst>
              <a:ext uri="{FF2B5EF4-FFF2-40B4-BE49-F238E27FC236}">
                <a16:creationId xmlns:a16="http://schemas.microsoft.com/office/drawing/2014/main" id="{CA2B903C-9161-DA5B-ACEB-DF52EEA692E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lvl="0" eaLnBrk="1" hangingPunct="1"/>
            <a:fld id="{9A0DB2DC-4C9A-4742-B13C-FB6460FD3503}" type="slidenum">
              <a:rPr lang="en-US" altLang="en-US" smtClean="0">
                <a:latin typeface="Arial" panose="020B0604020202020204" pitchFamily="34" charset="0"/>
              </a:rPr>
              <a:pPr lvl="0" eaLnBrk="1" hangingPunct="1"/>
              <a:t>‹#›</a:t>
            </a:fld>
            <a:endParaRPr lang="en-US" altLang="en-US" dirty="0">
              <a:latin typeface="Arial" panose="020B0604020202020204" pitchFamily="34" charset="0"/>
            </a:endParaRPr>
          </a:p>
        </p:txBody>
      </p:sp>
    </p:spTree>
    <p:extLst>
      <p:ext uri="{BB962C8B-B14F-4D97-AF65-F5344CB8AC3E}">
        <p14:creationId xmlns:p14="http://schemas.microsoft.com/office/powerpoint/2010/main" val="20381395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universe.roboflow.com/stevens-institute-of-technology-xjltl/shoplifting-detection-oxvwp/model/1"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www.mdpi.com/2076-3417/13/14/8341" TargetMode="External"/><Relationship Id="rId4" Type="http://schemas.openxmlformats.org/officeDocument/2006/relationships/hyperlink" Target="https://www.kaggle.com/datasets/mateohervas/dcsass-dataset/cod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2" descr="snist autonomous logo"/>
          <p:cNvPicPr>
            <a:picLocks noChangeAspect="1" noChangeArrowheads="1"/>
          </p:cNvPicPr>
          <p:nvPr/>
        </p:nvPicPr>
        <p:blipFill>
          <a:blip r:embed="rId3" cstate="print"/>
          <a:srcRect/>
          <a:stretch>
            <a:fillRect/>
          </a:stretch>
        </p:blipFill>
        <p:spPr bwMode="auto">
          <a:xfrm>
            <a:off x="3200400" y="228600"/>
            <a:ext cx="2667000" cy="819150"/>
          </a:xfrm>
          <a:prstGeom prst="rect">
            <a:avLst/>
          </a:prstGeom>
          <a:noFill/>
          <a:ln w="9525">
            <a:noFill/>
            <a:miter lim="800000"/>
            <a:headEnd/>
            <a:tailEnd/>
          </a:ln>
        </p:spPr>
      </p:pic>
      <p:sp>
        <p:nvSpPr>
          <p:cNvPr id="2" name="Text Box 1">
            <a:extLst>
              <a:ext uri="{FF2B5EF4-FFF2-40B4-BE49-F238E27FC236}">
                <a16:creationId xmlns:a16="http://schemas.microsoft.com/office/drawing/2014/main" id="{5883D85D-E6BB-8620-6CA9-0EE442383BCC}"/>
              </a:ext>
            </a:extLst>
          </p:cNvPr>
          <p:cNvSpPr txBox="1">
            <a:spLocks noChangeArrowheads="1"/>
          </p:cNvSpPr>
          <p:nvPr/>
        </p:nvSpPr>
        <p:spPr bwMode="auto">
          <a:xfrm>
            <a:off x="152400" y="266700"/>
            <a:ext cx="9144000" cy="6324600"/>
          </a:xfrm>
          <a:prstGeom prst="rect">
            <a:avLst/>
          </a:prstGeom>
          <a:noFill/>
          <a:ln>
            <a:noFill/>
          </a:ln>
        </p:spPr>
        <p:txBody>
          <a:bodyPr anchor="b"/>
          <a:lstStyle>
            <a:lvl1pPr>
              <a:spcBef>
                <a:spcPts val="400"/>
              </a:spcBef>
              <a:buClr>
                <a:schemeClr val="accent1"/>
              </a:buClr>
              <a:buSzPct val="68000"/>
              <a:buFont typeface="Wingdings 3" panose="050401020108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700">
                <a:solidFill>
                  <a:schemeClr val="tx1"/>
                </a:solidFill>
                <a:latin typeface="Lucida Sans Unicode" panose="020B0602030504020204" pitchFamily="34" charset="0"/>
              </a:defRPr>
            </a:lvl1pPr>
            <a:lvl2pPr marL="742950" indent="-285750">
              <a:spcBef>
                <a:spcPts val="325"/>
              </a:spcBef>
              <a:buClr>
                <a:schemeClr val="accent1"/>
              </a:buClr>
              <a:buFont typeface="Verdana" panose="020B060403050404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300">
                <a:solidFill>
                  <a:schemeClr val="tx1"/>
                </a:solidFill>
                <a:latin typeface="Lucida Sans Unicode" panose="020B0602030504020204" pitchFamily="34" charset="0"/>
              </a:defRPr>
            </a:lvl2pPr>
            <a:lvl3pPr marL="1143000" indent="-228600">
              <a:spcBef>
                <a:spcPts val="350"/>
              </a:spcBef>
              <a:buClr>
                <a:schemeClr val="accent2"/>
              </a:buClr>
              <a:buSzPct val="100000"/>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100">
                <a:solidFill>
                  <a:schemeClr val="tx1"/>
                </a:solidFill>
                <a:latin typeface="Lucida Sans Unicode" panose="020B0602030504020204" pitchFamily="34" charset="0"/>
              </a:defRPr>
            </a:lvl3pPr>
            <a:lvl4pPr marL="1600200" indent="-228600">
              <a:spcBef>
                <a:spcPts val="350"/>
              </a:spcBef>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900">
                <a:solidFill>
                  <a:schemeClr val="tx1"/>
                </a:solidFill>
                <a:latin typeface="Lucida Sans Unicode" panose="020B0602030504020204" pitchFamily="34" charset="0"/>
              </a:defRPr>
            </a:lvl4pPr>
            <a:lvl5pPr marL="2057400" indent="-228600">
              <a:spcBef>
                <a:spcPts val="350"/>
              </a:spcBef>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Lucida Sans Unicode" panose="020B0602030504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Lucida Sans Unicode" panose="020B0602030504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Lucida Sans Unicode" panose="020B0602030504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Lucida Sans Unicode" panose="020B0602030504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Lucida Sans Unicode" panose="020B0602030504020204" pitchFamily="34" charset="0"/>
              </a:defRPr>
            </a:lvl9pPr>
          </a:lstStyle>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US" altLang="en-US" sz="2800" b="1" dirty="0">
              <a:solidFill>
                <a:srgbClr val="000000"/>
              </a:solidFill>
              <a:latin typeface="Times New Roman" panose="02020603050405020304" pitchFamily="18" charset="0"/>
              <a:cs typeface="Times New Roman" panose="02020603050405020304" pitchFamily="18" charset="0"/>
            </a:endParaRPr>
          </a:p>
          <a:p>
            <a:pPr eaLnBrk="1" hangingPunct="1">
              <a:spcBef>
                <a:spcPct val="0"/>
              </a:spcBef>
              <a:buClrTx/>
              <a:buSzTx/>
              <a:buFontTx/>
              <a:buNone/>
              <a:defRPr/>
            </a:pPr>
            <a:r>
              <a:rPr lang="en-US" altLang="en-US" sz="2800" b="1" dirty="0">
                <a:latin typeface="Arial" panose="020B0604020202020204" pitchFamily="34" charset="0"/>
              </a:rPr>
              <a:t> </a:t>
            </a:r>
            <a:endParaRPr lang="en-US" altLang="en-US" sz="2800" dirty="0">
              <a:latin typeface="Arial" panose="020B0604020202020204" pitchFamily="34" charset="0"/>
            </a:endParaRPr>
          </a:p>
          <a:p>
            <a:pPr algn="ctr" eaLnBrk="1" hangingPunct="1">
              <a:lnSpc>
                <a:spcPct val="150000"/>
              </a:lnSpc>
              <a:spcBef>
                <a:spcPct val="0"/>
              </a:spcBef>
              <a:buClrTx/>
              <a:buSzTx/>
              <a:buFontTx/>
              <a:buNone/>
              <a:defRPr/>
            </a:pPr>
            <a:r>
              <a:rPr lang="en-US" altLang="en-US" sz="1600" b="1" dirty="0">
                <a:latin typeface="Times New Roman" panose="02020603050405020304" pitchFamily="18" charset="0"/>
                <a:cs typeface="Times New Roman" panose="02020603050405020304" pitchFamily="18" charset="0"/>
              </a:rPr>
              <a:t>SREENIDHI INSTITUTE OF SCIENCE AND TECHNOLOGY</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0"/>
              </a:spcBef>
              <a:buClrTx/>
              <a:buSzTx/>
              <a:buFontTx/>
              <a:buNone/>
              <a:defRPr/>
            </a:pPr>
            <a:r>
              <a:rPr lang="en-US" altLang="en-US" sz="1600" b="1" dirty="0">
                <a:latin typeface="Times New Roman" panose="02020603050405020304" pitchFamily="18" charset="0"/>
                <a:cs typeface="Times New Roman" panose="02020603050405020304" pitchFamily="18" charset="0"/>
              </a:rPr>
              <a:t>(An Autonomous Institution)</a:t>
            </a:r>
          </a:p>
          <a:p>
            <a:pPr algn="ctr" eaLnBrk="1" hangingPunct="1">
              <a:lnSpc>
                <a:spcPct val="150000"/>
              </a:lnSpc>
              <a:spcBef>
                <a:spcPct val="0"/>
              </a:spcBef>
              <a:buClrTx/>
              <a:buSzTx/>
              <a:buFontTx/>
              <a:buNone/>
              <a:defRPr/>
            </a:pPr>
            <a:r>
              <a:rPr lang="en-US" altLang="en-US" sz="1600" b="1" dirty="0">
                <a:latin typeface="Times New Roman" panose="02020603050405020304" pitchFamily="18" charset="0"/>
                <a:cs typeface="Times New Roman" panose="02020603050405020304" pitchFamily="18" charset="0"/>
              </a:rPr>
              <a:t>DEPARTMENT OF CSE- AI &amp; ML</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80000"/>
              </a:lnSpc>
              <a:spcBef>
                <a:spcPct val="0"/>
              </a:spcBef>
              <a:buClrTx/>
              <a:buSzTx/>
              <a:buFontTx/>
              <a:buNone/>
              <a:defRPr/>
            </a:pPr>
            <a:r>
              <a:rPr lang="en-US" altLang="en-US" sz="2000" b="1" dirty="0">
                <a:solidFill>
                  <a:srgbClr val="000000"/>
                </a:solidFill>
                <a:latin typeface="Times New Roman" panose="02020603050405020304" pitchFamily="18" charset="0"/>
                <a:cs typeface="Times New Roman" panose="02020603050405020304" pitchFamily="18" charset="0"/>
              </a:rPr>
              <a:t>A </a:t>
            </a:r>
            <a:br>
              <a:rPr lang="en-US" altLang="en-US" sz="2000" b="1" dirty="0">
                <a:solidFill>
                  <a:srgbClr val="000000"/>
                </a:solidFill>
                <a:latin typeface="Times New Roman" panose="02020603050405020304" pitchFamily="18" charset="0"/>
                <a:cs typeface="Times New Roman" panose="02020603050405020304" pitchFamily="18" charset="0"/>
              </a:rPr>
            </a:br>
            <a:r>
              <a:rPr lang="en-US" altLang="en-US" sz="2000" b="1" dirty="0">
                <a:solidFill>
                  <a:srgbClr val="000000"/>
                </a:solidFill>
                <a:latin typeface="Times New Roman" panose="02020603050405020304" pitchFamily="18" charset="0"/>
                <a:cs typeface="Times New Roman" panose="02020603050405020304" pitchFamily="18" charset="0"/>
              </a:rPr>
              <a:t>Design seminar </a:t>
            </a:r>
            <a:br>
              <a:rPr lang="en-US" altLang="en-US" sz="2000" b="1" dirty="0">
                <a:solidFill>
                  <a:srgbClr val="000000"/>
                </a:solidFill>
                <a:latin typeface="Times New Roman" panose="02020603050405020304" pitchFamily="18" charset="0"/>
                <a:cs typeface="Times New Roman" panose="02020603050405020304" pitchFamily="18" charset="0"/>
              </a:rPr>
            </a:br>
            <a:r>
              <a:rPr lang="en-US" altLang="en-US" sz="2000" b="1" dirty="0">
                <a:solidFill>
                  <a:srgbClr val="000000"/>
                </a:solidFill>
                <a:latin typeface="Times New Roman" panose="02020603050405020304" pitchFamily="18" charset="0"/>
                <a:cs typeface="Times New Roman" panose="02020603050405020304" pitchFamily="18" charset="0"/>
              </a:rPr>
              <a:t>on </a:t>
            </a:r>
            <a:br>
              <a:rPr lang="en-US" altLang="en-US" sz="2000" b="1" dirty="0">
                <a:solidFill>
                  <a:srgbClr val="000000"/>
                </a:solidFill>
                <a:latin typeface="Times New Roman" panose="02020603050405020304" pitchFamily="18" charset="0"/>
                <a:cs typeface="Times New Roman" panose="02020603050405020304" pitchFamily="18" charset="0"/>
              </a:rPr>
            </a:br>
            <a:r>
              <a:rPr lang="en-US" altLang="en-US" sz="2000" b="1" dirty="0">
                <a:solidFill>
                  <a:srgbClr val="000000"/>
                </a:solidFill>
                <a:latin typeface="Times New Roman" panose="02020603050405020304" pitchFamily="18" charset="0"/>
                <a:cs typeface="Times New Roman" panose="02020603050405020304" pitchFamily="18" charset="0"/>
              </a:rPr>
              <a:t>Retail Theft Detection using Deep Learning</a:t>
            </a:r>
            <a:br>
              <a:rPr lang="en-IN" altLang="en-US" sz="3600" b="1" dirty="0">
                <a:solidFill>
                  <a:srgbClr val="C4BD97"/>
                </a:solidFill>
                <a:latin typeface="Times New Roman" panose="02020603050405020304" pitchFamily="18" charset="0"/>
                <a:cs typeface="Times New Roman" panose="02020603050405020304" pitchFamily="18" charset="0"/>
              </a:rPr>
            </a:br>
            <a:br>
              <a:rPr lang="en-IN" altLang="en-US" sz="1050" b="1" dirty="0">
                <a:solidFill>
                  <a:srgbClr val="C4BD97"/>
                </a:solidFill>
                <a:latin typeface="Times New Roman" panose="02020603050405020304" pitchFamily="18" charset="0"/>
                <a:cs typeface="Times New Roman" panose="02020603050405020304" pitchFamily="18" charset="0"/>
              </a:rPr>
            </a:br>
            <a:r>
              <a:rPr lang="en-US" altLang="en-US" sz="1050" b="1" dirty="0">
                <a:latin typeface="Times New Roman" panose="02020603050405020304" pitchFamily="18" charset="0"/>
              </a:rPr>
              <a:t>BY</a:t>
            </a:r>
          </a:p>
          <a:p>
            <a:pPr marL="342900" indent="-342900" algn="ctr" eaLnBrk="1" fontAlgn="auto" hangingPunct="1">
              <a:lnSpc>
                <a:spcPct val="80000"/>
              </a:lnSpc>
              <a:spcBef>
                <a:spcPts val="800"/>
              </a:spcBef>
              <a:spcAft>
                <a:spcPts val="0"/>
              </a:spcAft>
              <a:buFont typeface="Times New Roman" pitchFamily="16" charset="0"/>
              <a:buNone/>
              <a:defRPr/>
            </a:pPr>
            <a:r>
              <a:rPr lang="en-US" sz="1400" b="1" kern="0" dirty="0" err="1">
                <a:solidFill>
                  <a:srgbClr val="002060"/>
                </a:solidFill>
                <a:latin typeface="Times New Roman" pitchFamily="18" charset="0"/>
              </a:rPr>
              <a:t>Cherupally</a:t>
            </a:r>
            <a:r>
              <a:rPr lang="en-US" sz="1400" b="1" kern="0" dirty="0">
                <a:solidFill>
                  <a:srgbClr val="002060"/>
                </a:solidFill>
                <a:latin typeface="Times New Roman" pitchFamily="18" charset="0"/>
              </a:rPr>
              <a:t> </a:t>
            </a:r>
            <a:r>
              <a:rPr lang="en-US" sz="1400" b="1" kern="0" dirty="0" err="1">
                <a:solidFill>
                  <a:srgbClr val="002060"/>
                </a:solidFill>
                <a:latin typeface="Times New Roman" pitchFamily="18" charset="0"/>
              </a:rPr>
              <a:t>Abhinay</a:t>
            </a:r>
            <a:r>
              <a:rPr lang="en-US" sz="1400" b="1" kern="0" dirty="0">
                <a:solidFill>
                  <a:srgbClr val="002060"/>
                </a:solidFill>
                <a:latin typeface="Times New Roman" pitchFamily="18" charset="0"/>
              </a:rPr>
              <a:t> (21311A6624) </a:t>
            </a:r>
          </a:p>
          <a:p>
            <a:pPr marL="342900" indent="-342900" algn="ctr" eaLnBrk="1" fontAlgn="auto" hangingPunct="1">
              <a:lnSpc>
                <a:spcPct val="80000"/>
              </a:lnSpc>
              <a:spcBef>
                <a:spcPts val="800"/>
              </a:spcBef>
              <a:spcAft>
                <a:spcPts val="0"/>
              </a:spcAft>
              <a:buFont typeface="Times New Roman" pitchFamily="16" charset="0"/>
              <a:buNone/>
              <a:defRPr/>
            </a:pPr>
            <a:r>
              <a:rPr lang="en-US" sz="1400" b="1" kern="0" dirty="0" err="1">
                <a:solidFill>
                  <a:srgbClr val="002060"/>
                </a:solidFill>
                <a:latin typeface="Times New Roman" pitchFamily="18" charset="0"/>
              </a:rPr>
              <a:t>Boggula</a:t>
            </a:r>
            <a:r>
              <a:rPr lang="en-US" sz="1400" b="1" kern="0" dirty="0">
                <a:solidFill>
                  <a:srgbClr val="002060"/>
                </a:solidFill>
                <a:latin typeface="Times New Roman" pitchFamily="18" charset="0"/>
              </a:rPr>
              <a:t> Naga Krishna Reddy (21311A6608)</a:t>
            </a:r>
          </a:p>
          <a:p>
            <a:pPr algn="ctr" eaLnBrk="1" fontAlgn="auto" hangingPunct="1">
              <a:lnSpc>
                <a:spcPct val="80000"/>
              </a:lnSpc>
              <a:spcBef>
                <a:spcPts val="800"/>
              </a:spcBef>
              <a:spcAft>
                <a:spcPts val="0"/>
              </a:spcAft>
              <a:buFont typeface="Wingdings 3" panose="05040102010807070707" pitchFamily="18" charset="2"/>
              <a:buNone/>
              <a:defRPr/>
            </a:pPr>
            <a:r>
              <a:rPr lang="en-US" sz="1400" b="1" kern="0" dirty="0" err="1">
                <a:solidFill>
                  <a:srgbClr val="002060"/>
                </a:solidFill>
                <a:latin typeface="Times New Roman" pitchFamily="18" charset="0"/>
              </a:rPr>
              <a:t>Kachu</a:t>
            </a:r>
            <a:r>
              <a:rPr lang="en-US" sz="1400" b="1" kern="0" dirty="0">
                <a:solidFill>
                  <a:srgbClr val="002060"/>
                </a:solidFill>
                <a:latin typeface="Times New Roman" pitchFamily="18" charset="0"/>
              </a:rPr>
              <a:t> </a:t>
            </a:r>
            <a:r>
              <a:rPr lang="en-US" sz="1400" b="1" kern="0" dirty="0" err="1">
                <a:solidFill>
                  <a:srgbClr val="002060"/>
                </a:solidFill>
                <a:latin typeface="Times New Roman" pitchFamily="18" charset="0"/>
              </a:rPr>
              <a:t>Revanth</a:t>
            </a:r>
            <a:r>
              <a:rPr lang="en-US" sz="1400" b="1" kern="0" dirty="0">
                <a:solidFill>
                  <a:srgbClr val="002060"/>
                </a:solidFill>
                <a:latin typeface="Times New Roman" pitchFamily="18" charset="0"/>
              </a:rPr>
              <a:t> (21311A6628)</a:t>
            </a:r>
          </a:p>
          <a:p>
            <a:pPr algn="ctr" eaLnBrk="1" hangingPunct="1">
              <a:lnSpc>
                <a:spcPct val="80000"/>
              </a:lnSpc>
              <a:spcBef>
                <a:spcPct val="0"/>
              </a:spcBef>
              <a:buClrTx/>
              <a:buSzTx/>
              <a:buFontTx/>
              <a:buNone/>
              <a:defRPr/>
            </a:pPr>
            <a:endParaRPr lang="en-US" altLang="en-US" sz="1050" b="1" dirty="0">
              <a:latin typeface="Times New Roman" panose="02020603050405020304" pitchFamily="18" charset="0"/>
            </a:endParaRPr>
          </a:p>
          <a:p>
            <a:pPr algn="ctr" eaLnBrk="1" hangingPunct="1">
              <a:lnSpc>
                <a:spcPct val="80000"/>
              </a:lnSpc>
              <a:spcBef>
                <a:spcPct val="0"/>
              </a:spcBef>
              <a:buClrTx/>
              <a:buSzTx/>
              <a:buFontTx/>
              <a:buNone/>
              <a:defRPr/>
            </a:pPr>
            <a:r>
              <a:rPr lang="en-US" altLang="en-US" sz="1050" b="1" dirty="0">
                <a:latin typeface="Times New Roman" panose="02020603050405020304" pitchFamily="18" charset="0"/>
              </a:rPr>
              <a:t>Under the Guidance of </a:t>
            </a:r>
            <a:r>
              <a:rPr lang="en-US" altLang="en-US" sz="1050" b="1" dirty="0">
                <a:latin typeface="Arial" panose="020B0604020202020204" pitchFamily="34" charset="0"/>
              </a:rPr>
              <a:t>	</a:t>
            </a:r>
            <a:endParaRPr lang="en-US" altLang="en-US" sz="1200" b="1" dirty="0">
              <a:latin typeface="Times New Roman" panose="02020603050405020304" pitchFamily="18" charset="0"/>
            </a:endParaRPr>
          </a:p>
          <a:p>
            <a:pPr eaLnBrk="1" hangingPunct="1">
              <a:lnSpc>
                <a:spcPct val="80000"/>
              </a:lnSpc>
              <a:spcBef>
                <a:spcPct val="0"/>
              </a:spcBef>
              <a:buClrTx/>
              <a:buSzTx/>
              <a:buFontTx/>
              <a:buNone/>
              <a:defRPr/>
            </a:pPr>
            <a:r>
              <a:rPr lang="en-US" altLang="en-US" sz="1200" b="1" dirty="0">
                <a:latin typeface="Times New Roman" panose="02020603050405020304" pitchFamily="18" charset="0"/>
              </a:rPr>
              <a:t> </a:t>
            </a:r>
            <a:endParaRPr lang="en-US" altLang="en-US" sz="1200" b="1" dirty="0">
              <a:latin typeface="Times New Roman" panose="02020603050405020304" pitchFamily="18" charset="0"/>
              <a:cs typeface="Times New Roman" panose="02020603050405020304" pitchFamily="18" charset="0"/>
            </a:endParaRPr>
          </a:p>
          <a:p>
            <a:pPr eaLnBrk="1" hangingPunct="1">
              <a:spcBef>
                <a:spcPct val="0"/>
              </a:spcBef>
              <a:buClrTx/>
              <a:buSzTx/>
              <a:buFontTx/>
              <a:buNone/>
              <a:defRPr/>
            </a:pPr>
            <a:r>
              <a:rPr lang="en-US" altLang="en-US" sz="1600" b="1" dirty="0" err="1">
                <a:latin typeface="Times New Roman" panose="02020603050405020304" pitchFamily="18" charset="0"/>
                <a:cs typeface="Times New Roman" panose="02020603050405020304" pitchFamily="18" charset="0"/>
              </a:rPr>
              <a:t>Mr.G</a:t>
            </a:r>
            <a:r>
              <a:rPr lang="en-US" altLang="en-US" sz="1600" b="1" dirty="0">
                <a:latin typeface="Times New Roman" panose="02020603050405020304" pitchFamily="18" charset="0"/>
                <a:cs typeface="Times New Roman" panose="02020603050405020304" pitchFamily="18" charset="0"/>
              </a:rPr>
              <a:t> Ravi , 		              </a:t>
            </a:r>
            <a:r>
              <a:rPr lang="en-US" sz="1600" b="1" dirty="0">
                <a:solidFill>
                  <a:srgbClr val="000000"/>
                </a:solidFill>
                <a:latin typeface="Times New Roman" panose="02020603050405020304" pitchFamily="18" charset="0"/>
                <a:ea typeface="Times New Roman" panose="02020603050405020304" pitchFamily="18" charset="0"/>
              </a:rPr>
              <a:t>Mrs. K . Divya Sri,</a:t>
            </a:r>
            <a:r>
              <a:rPr lang="en-US" altLang="en-US" sz="1600" b="1" dirty="0">
                <a:latin typeface="Times New Roman" panose="02020603050405020304" pitchFamily="18" charset="0"/>
                <a:cs typeface="Times New Roman" panose="02020603050405020304" pitchFamily="18" charset="0"/>
              </a:rPr>
              <a:t>		    Dr K. </a:t>
            </a:r>
            <a:r>
              <a:rPr lang="en-US" altLang="en-US" sz="1600" b="1" dirty="0" err="1">
                <a:latin typeface="Times New Roman" panose="02020603050405020304" pitchFamily="18" charset="0"/>
                <a:cs typeface="Times New Roman" panose="02020603050405020304" pitchFamily="18" charset="0"/>
              </a:rPr>
              <a:t>Shirisha</a:t>
            </a:r>
            <a:r>
              <a:rPr lang="en-US" altLang="en-US" sz="1600" b="1" dirty="0">
                <a:latin typeface="Times New Roman" panose="02020603050405020304" pitchFamily="18" charset="0"/>
                <a:cs typeface="Times New Roman" panose="02020603050405020304" pitchFamily="18" charset="0"/>
              </a:rPr>
              <a:t> ,          	Assistant Professor,	 	               </a:t>
            </a:r>
            <a:r>
              <a:rPr lang="en-US" sz="1600" b="1" dirty="0">
                <a:latin typeface="Times New Roman" panose="02020603050405020304" pitchFamily="18" charset="0"/>
                <a:ea typeface="Times New Roman" panose="02020603050405020304" pitchFamily="18" charset="0"/>
              </a:rPr>
              <a:t>Assistant Professor </a:t>
            </a:r>
            <a:r>
              <a:rPr lang="en-US" altLang="en-US" sz="1600" b="1" dirty="0">
                <a:latin typeface="Times New Roman" panose="02020603050405020304" pitchFamily="18" charset="0"/>
                <a:cs typeface="Times New Roman" panose="02020603050405020304" pitchFamily="18" charset="0"/>
              </a:rPr>
              <a:t>,		    Professor,</a:t>
            </a:r>
          </a:p>
          <a:p>
            <a:pPr eaLnBrk="1" hangingPunct="1">
              <a:spcBef>
                <a:spcPct val="0"/>
              </a:spcBef>
              <a:buClrTx/>
              <a:buSzTx/>
              <a:buFontTx/>
              <a:buNone/>
              <a:defRPr/>
            </a:pPr>
            <a:r>
              <a:rPr lang="en-US" altLang="en-US" sz="1600" b="1" dirty="0">
                <a:latin typeface="Times New Roman" panose="02020603050405020304" pitchFamily="18" charset="0"/>
                <a:cs typeface="Times New Roman" panose="02020603050405020304" pitchFamily="18" charset="0"/>
              </a:rPr>
              <a:t>Group Project Coordinator,	               Department of CSE-AI &amp; ML , 	    Dept of CSE-AI &amp;ML Department, CSE-AI &amp; ML ,SNIST 	 SNIST			     SNIST</a:t>
            </a:r>
          </a:p>
          <a:p>
            <a:pPr eaLnBrk="1" hangingPunct="1">
              <a:spcBef>
                <a:spcPct val="0"/>
              </a:spcBef>
              <a:buClrTx/>
              <a:buSzTx/>
              <a:buFontTx/>
              <a:buNone/>
              <a:defRPr/>
            </a:pPr>
            <a:r>
              <a:rPr lang="en-US" altLang="en-US" sz="1600" b="1" dirty="0">
                <a:latin typeface="Times New Roman" panose="02020603050405020304" pitchFamily="18" charset="0"/>
                <a:cs typeface="Times New Roman" panose="02020603050405020304" pitchFamily="18" charset="0"/>
              </a:rPr>
              <a:t>	</a:t>
            </a:r>
            <a:r>
              <a:rPr lang="en-US" altLang="en-US" sz="1200" b="1" dirty="0">
                <a:latin typeface="Times New Roman" panose="02020603050405020304" pitchFamily="18" charset="0"/>
                <a:cs typeface="Times New Roman" panose="02020603050405020304" pitchFamily="18" charset="0"/>
              </a:rPr>
              <a:t>	</a:t>
            </a:r>
            <a:endParaRPr lang="en-US" altLang="en-US" sz="2400" b="1" dirty="0">
              <a:solidFill>
                <a:srgbClr val="FFC000"/>
              </a:solidFill>
              <a:latin typeface="Times New Roman" panose="02020603050405020304" pitchFamily="18" charset="0"/>
              <a:cs typeface="Times New Roman" panose="02020603050405020304" pitchFamily="18" charset="0"/>
            </a:endParaRPr>
          </a:p>
          <a:p>
            <a:pPr algn="ctr" eaLnBrk="1" hangingPunct="1">
              <a:spcBef>
                <a:spcPct val="0"/>
              </a:spcBef>
              <a:buClrTx/>
              <a:buSzTx/>
              <a:buFontTx/>
              <a:buNone/>
              <a:defRPr/>
            </a:pPr>
            <a:endParaRPr lang="en-IN" altLang="en-US" sz="2800" b="1" dirty="0">
              <a:solidFill>
                <a:srgbClr val="262626"/>
              </a:solidFill>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274638"/>
            <a:ext cx="8229600" cy="654051"/>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0" i="0" u="sng"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Abstract</a:t>
            </a:r>
            <a:endParaRPr kumimoji="0" lang="en-IN" sz="2800" b="0" i="0" u="sng"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12290" name="Content Placeholder 2"/>
          <p:cNvSpPr>
            <a:spLocks noGrp="1"/>
          </p:cNvSpPr>
          <p:nvPr>
            <p:ph idx="1"/>
          </p:nvPr>
        </p:nvSpPr>
        <p:spPr>
          <a:xfrm>
            <a:off x="371475" y="993845"/>
            <a:ext cx="8401050" cy="5643563"/>
          </a:xfrm>
          <a:ln/>
        </p:spPr>
        <p:txBody>
          <a:bodyPr vert="horz" wrap="square" lIns="91440" tIns="45720" rIns="91440" bIns="45720" anchor="t" anchorCtr="0"/>
          <a:lstStyle/>
          <a:p>
            <a:pPr algn="just" eaLnBrk="1" hangingPunct="1">
              <a:lnSpc>
                <a:spcPct val="150000"/>
              </a:lnSpc>
            </a:pPr>
            <a:r>
              <a:rPr lang="en-US" sz="1600" dirty="0">
                <a:latin typeface="Times New Roman" panose="02020603050405020304" pitchFamily="18" charset="0"/>
                <a:cs typeface="Times New Roman" panose="02020603050405020304" pitchFamily="18" charset="0"/>
              </a:rPr>
              <a:t>Shoplifting is a significant concern for retailers, leading to substantial financial losses annually. Traditional security measures, such as CCTV surveillance and human monitoring, often fail to provide real-time intervention due to their dependence on manual oversight. This project proposes an </a:t>
            </a:r>
            <a:r>
              <a:rPr lang="en-US" sz="1600" b="1" dirty="0">
                <a:latin typeface="Times New Roman" panose="02020603050405020304" pitchFamily="18" charset="0"/>
                <a:cs typeface="Times New Roman" panose="02020603050405020304" pitchFamily="18" charset="0"/>
              </a:rPr>
              <a:t>automated shoplifting detection system</a:t>
            </a:r>
            <a:r>
              <a:rPr lang="en-US" sz="1600" dirty="0">
                <a:latin typeface="Times New Roman" panose="02020603050405020304" pitchFamily="18" charset="0"/>
                <a:cs typeface="Times New Roman" panose="02020603050405020304" pitchFamily="18" charset="0"/>
              </a:rPr>
              <a:t> leveraging </a:t>
            </a:r>
            <a:r>
              <a:rPr lang="en-US" sz="1600" b="1" dirty="0">
                <a:latin typeface="Times New Roman" panose="02020603050405020304" pitchFamily="18" charset="0"/>
                <a:cs typeface="Times New Roman" panose="02020603050405020304" pitchFamily="18" charset="0"/>
              </a:rPr>
              <a:t>YOLOv8 (You Only Look Once) for real-time object detection, </a:t>
            </a:r>
            <a:r>
              <a:rPr lang="en-US" sz="1600" b="1" dirty="0" err="1">
                <a:latin typeface="Times New Roman" panose="02020603050405020304" pitchFamily="18" charset="0"/>
                <a:cs typeface="Times New Roman" panose="02020603050405020304" pitchFamily="18" charset="0"/>
              </a:rPr>
              <a:t>DeepSORT</a:t>
            </a:r>
            <a:r>
              <a:rPr lang="en-US" sz="1600" b="1" dirty="0">
                <a:latin typeface="Times New Roman" panose="02020603050405020304" pitchFamily="18" charset="0"/>
                <a:cs typeface="Times New Roman" panose="02020603050405020304" pitchFamily="18" charset="0"/>
              </a:rPr>
              <a:t> for identity tracking, and OpenCV for video processing</a:t>
            </a:r>
            <a:r>
              <a:rPr lang="en-US" sz="1600" dirty="0">
                <a:latin typeface="Times New Roman" panose="02020603050405020304" pitchFamily="18" charset="0"/>
                <a:cs typeface="Times New Roman" panose="02020603050405020304" pitchFamily="18" charset="0"/>
              </a:rPr>
              <a:t>. The system is designed to detect suspicious behaviors such as </a:t>
            </a:r>
            <a:r>
              <a:rPr lang="en-US" sz="1600" b="1" dirty="0">
                <a:latin typeface="Times New Roman" panose="02020603050405020304" pitchFamily="18" charset="0"/>
                <a:cs typeface="Times New Roman" panose="02020603050405020304" pitchFamily="18" charset="0"/>
              </a:rPr>
              <a:t>loitering</a:t>
            </a:r>
            <a:r>
              <a:rPr lang="en-US" sz="1600" dirty="0">
                <a:latin typeface="Times New Roman" panose="02020603050405020304" pitchFamily="18" charset="0"/>
                <a:cs typeface="Times New Roman" panose="02020603050405020304" pitchFamily="18" charset="0"/>
              </a:rPr>
              <a:t> (staying in a particular area for an extended period) and </a:t>
            </a:r>
            <a:r>
              <a:rPr lang="en-US" sz="1600" b="1" dirty="0">
                <a:latin typeface="Times New Roman" panose="02020603050405020304" pitchFamily="18" charset="0"/>
                <a:cs typeface="Times New Roman" panose="02020603050405020304" pitchFamily="18" charset="0"/>
              </a:rPr>
              <a:t>concealment</a:t>
            </a:r>
            <a:r>
              <a:rPr lang="en-US" sz="1600" dirty="0">
                <a:latin typeface="Times New Roman" panose="02020603050405020304" pitchFamily="18" charset="0"/>
                <a:cs typeface="Times New Roman" panose="02020603050405020304" pitchFamily="18" charset="0"/>
              </a:rPr>
              <a:t> (placing an item close to the body or within clothing). By integrating advanced deep learning and computer vision techniques, the system enhances security surveillance by providing </a:t>
            </a:r>
            <a:r>
              <a:rPr lang="en-US" sz="1600" b="1" dirty="0">
                <a:latin typeface="Times New Roman" panose="02020603050405020304" pitchFamily="18" charset="0"/>
                <a:cs typeface="Times New Roman" panose="02020603050405020304" pitchFamily="18" charset="0"/>
              </a:rPr>
              <a:t>real-time alerts and tracking movements of individuals and objects</a:t>
            </a:r>
            <a:r>
              <a:rPr lang="en-US" sz="1600" dirty="0">
                <a:latin typeface="Times New Roman" panose="02020603050405020304" pitchFamily="18" charset="0"/>
                <a:cs typeface="Times New Roman" panose="02020603050405020304" pitchFamily="18" charset="0"/>
              </a:rPr>
              <a:t> within a retail store environment. The implementation can run on </a:t>
            </a:r>
            <a:r>
              <a:rPr lang="en-US" sz="1600" b="1" dirty="0">
                <a:latin typeface="Times New Roman" panose="02020603050405020304" pitchFamily="18" charset="0"/>
                <a:cs typeface="Times New Roman" panose="02020603050405020304" pitchFamily="18" charset="0"/>
              </a:rPr>
              <a:t>both CPU and GPU</a:t>
            </a:r>
            <a:r>
              <a:rPr lang="en-US" sz="1600" dirty="0">
                <a:latin typeface="Times New Roman" panose="02020603050405020304" pitchFamily="18" charset="0"/>
                <a:cs typeface="Times New Roman" panose="02020603050405020304" pitchFamily="18" charset="0"/>
              </a:rPr>
              <a:t>, making it suitable for deployment on various hardware configurations. This solution aims to improve loss prevention strategies, reduce the workload on security personnel, and enhance the efficiency of existing surveillance systems.</a:t>
            </a:r>
          </a:p>
          <a:p>
            <a:pPr algn="just" eaLnBrk="1" hangingPunct="1">
              <a:lnSpc>
                <a:spcPct val="150000"/>
              </a:lnSpc>
            </a:pP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467139" y="0"/>
            <a:ext cx="7886700" cy="1325563"/>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EXISTING SYSTEM </a:t>
            </a:r>
            <a:endParaRPr kumimoji="0" lang="en-IN"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14339" name="Content Placeholder 2"/>
          <p:cNvSpPr>
            <a:spLocks noGrp="1"/>
          </p:cNvSpPr>
          <p:nvPr>
            <p:ph idx="1"/>
          </p:nvPr>
        </p:nvSpPr>
        <p:spPr>
          <a:xfrm>
            <a:off x="457200" y="1066800"/>
            <a:ext cx="8229600" cy="5562600"/>
          </a:xfrm>
          <a:ln/>
        </p:spPr>
        <p:txBody>
          <a:bodyPr vert="horz" wrap="square" lIns="91440" tIns="45720" rIns="91440" bIns="45720" anchor="t" anchorCtr="0"/>
          <a:lstStyle/>
          <a:p>
            <a:pPr algn="l"/>
            <a:r>
              <a:rPr lang="en-US" sz="2000" b="1" i="0" dirty="0">
                <a:effectLst/>
                <a:latin typeface="Inter"/>
              </a:rPr>
              <a:t>Existing System &amp; Limitations</a:t>
            </a:r>
          </a:p>
          <a:p>
            <a:pPr algn="l">
              <a:spcAft>
                <a:spcPts val="300"/>
              </a:spcAft>
              <a:buFont typeface="+mj-lt"/>
              <a:buAutoNum type="arabicPeriod"/>
            </a:pPr>
            <a:r>
              <a:rPr lang="en-US" sz="2000" b="1" i="0" dirty="0">
                <a:effectLst/>
                <a:latin typeface="Inter"/>
              </a:rPr>
              <a:t>Basic CCTV Monitoring</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Passive recording without analysis</a:t>
            </a:r>
          </a:p>
          <a:p>
            <a:pPr marL="742950" lvl="1" indent="-285750" algn="l">
              <a:spcBef>
                <a:spcPts val="300"/>
              </a:spcBef>
              <a:buFont typeface="+mj-lt"/>
              <a:buAutoNum type="arabicPeriod"/>
            </a:pPr>
            <a:r>
              <a:rPr lang="en-US" sz="1800" b="0" i="0" dirty="0">
                <a:effectLst/>
                <a:latin typeface="Inter"/>
              </a:rPr>
              <a:t>Requires human monitoring</a:t>
            </a:r>
          </a:p>
          <a:p>
            <a:pPr marL="742950" lvl="1" indent="-285750" algn="l">
              <a:spcBef>
                <a:spcPts val="300"/>
              </a:spcBef>
              <a:buFont typeface="+mj-lt"/>
              <a:buAutoNum type="arabicPeriod"/>
            </a:pPr>
            <a:r>
              <a:rPr lang="en-US" sz="1800" b="0" i="0" dirty="0">
                <a:effectLst/>
                <a:latin typeface="Inter"/>
              </a:rPr>
              <a:t>No proactive alerts</a:t>
            </a:r>
          </a:p>
          <a:p>
            <a:pPr algn="l">
              <a:spcBef>
                <a:spcPts val="300"/>
              </a:spcBef>
              <a:spcAft>
                <a:spcPts val="300"/>
              </a:spcAft>
              <a:buFont typeface="+mj-lt"/>
              <a:buAutoNum type="arabicPeriod"/>
            </a:pPr>
            <a:r>
              <a:rPr lang="en-US" sz="2000" b="1" i="0" dirty="0">
                <a:effectLst/>
                <a:latin typeface="Inter"/>
              </a:rPr>
              <a:t>RFID-Based Systems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High installation costs</a:t>
            </a:r>
          </a:p>
          <a:p>
            <a:pPr marL="742950" lvl="1" indent="-285750" algn="l">
              <a:spcBef>
                <a:spcPts val="300"/>
              </a:spcBef>
              <a:buFont typeface="+mj-lt"/>
              <a:buAutoNum type="arabicPeriod"/>
            </a:pPr>
            <a:r>
              <a:rPr lang="en-US" sz="1800" b="0" i="0" dirty="0">
                <a:effectLst/>
                <a:latin typeface="Inter"/>
              </a:rPr>
              <a:t>Only detects unpaid items</a:t>
            </a:r>
          </a:p>
          <a:p>
            <a:pPr marL="742950" lvl="1" indent="-285750" algn="l">
              <a:spcBef>
                <a:spcPts val="300"/>
              </a:spcBef>
              <a:buFont typeface="+mj-lt"/>
              <a:buAutoNum type="arabicPeriod"/>
            </a:pPr>
            <a:r>
              <a:rPr lang="en-US" sz="1800" b="0" i="0" dirty="0">
                <a:effectLst/>
                <a:latin typeface="Inter"/>
              </a:rPr>
              <a:t>Easy to bypass</a:t>
            </a:r>
          </a:p>
          <a:p>
            <a:pPr algn="l">
              <a:spcBef>
                <a:spcPts val="300"/>
              </a:spcBef>
              <a:spcAft>
                <a:spcPts val="300"/>
              </a:spcAft>
              <a:buFont typeface="+mj-lt"/>
              <a:buAutoNum type="arabicPeriod"/>
            </a:pPr>
            <a:r>
              <a:rPr lang="en-US" sz="2000" b="1" i="0" dirty="0">
                <a:effectLst/>
                <a:latin typeface="Inter"/>
              </a:rPr>
              <a:t>Motion Detection Systems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High false positives</a:t>
            </a:r>
          </a:p>
          <a:p>
            <a:pPr marL="742950" lvl="1" indent="-285750" algn="l">
              <a:spcBef>
                <a:spcPts val="300"/>
              </a:spcBef>
              <a:buFont typeface="+mj-lt"/>
              <a:buAutoNum type="arabicPeriod"/>
            </a:pPr>
            <a:r>
              <a:rPr lang="en-US" sz="1800" b="0" i="0" dirty="0">
                <a:effectLst/>
                <a:latin typeface="Inter"/>
              </a:rPr>
              <a:t>No behavior analysis</a:t>
            </a:r>
          </a:p>
          <a:p>
            <a:pPr marL="742950" lvl="1" indent="-285750" algn="l">
              <a:spcBef>
                <a:spcPts val="300"/>
              </a:spcBef>
              <a:buFont typeface="+mj-lt"/>
              <a:buAutoNum type="arabicPeriod"/>
            </a:pPr>
            <a:r>
              <a:rPr lang="en-US" sz="1800" b="0" i="0" dirty="0">
                <a:effectLst/>
                <a:latin typeface="Inter"/>
              </a:rPr>
              <a:t>Can't differentiate customers/staff</a:t>
            </a:r>
          </a:p>
          <a:p>
            <a:pPr algn="l">
              <a:spcBef>
                <a:spcPts val="300"/>
              </a:spcBef>
              <a:spcAft>
                <a:spcPts val="300"/>
              </a:spcAft>
              <a:buFont typeface="+mj-lt"/>
              <a:buAutoNum type="arabicPeriod"/>
            </a:pPr>
            <a:r>
              <a:rPr lang="en-US" sz="2000" b="1" i="0" dirty="0">
                <a:effectLst/>
                <a:latin typeface="Inter"/>
              </a:rPr>
              <a:t>Manual Analytics Tools</a:t>
            </a:r>
            <a:endParaRPr lang="en-US" sz="2000" b="0" i="0" dirty="0">
              <a:effectLst/>
              <a:latin typeface="Inter"/>
            </a:endParaRPr>
          </a:p>
          <a:p>
            <a:pPr marL="742950" lvl="1" indent="-285750" algn="l">
              <a:spcBef>
                <a:spcPts val="300"/>
              </a:spcBef>
              <a:buFont typeface="+mj-lt"/>
              <a:buAutoNum type="arabicPeriod"/>
            </a:pPr>
            <a:r>
              <a:rPr lang="en-US" sz="1800" b="0" i="0" dirty="0">
                <a:effectLst/>
                <a:latin typeface="Inter"/>
              </a:rPr>
              <a:t>Post-incident analysis only</a:t>
            </a:r>
          </a:p>
          <a:p>
            <a:pPr marL="742950" lvl="1" indent="-285750" algn="l">
              <a:spcBef>
                <a:spcPts val="300"/>
              </a:spcBef>
              <a:buFont typeface="+mj-lt"/>
              <a:buAutoNum type="arabicPeriod"/>
            </a:pPr>
            <a:r>
              <a:rPr lang="en-US" sz="1800" b="0" i="0" dirty="0">
                <a:effectLst/>
                <a:latin typeface="Inter"/>
              </a:rPr>
              <a:t>Requires technical expertise</a:t>
            </a:r>
          </a:p>
          <a:p>
            <a:pPr marL="742950" lvl="1" indent="-285750" algn="l">
              <a:spcBef>
                <a:spcPts val="300"/>
              </a:spcBef>
              <a:buFont typeface="+mj-lt"/>
              <a:buAutoNum type="arabicPeriod"/>
            </a:pPr>
            <a:r>
              <a:rPr lang="en-US" sz="1800" b="0" i="0" dirty="0">
                <a:effectLst/>
                <a:latin typeface="Inter"/>
              </a:rPr>
              <a:t>No real-time prevention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609600" y="2282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PROPOSED SYSTEM</a:t>
            </a:r>
          </a:p>
        </p:txBody>
      </p:sp>
      <p:sp>
        <p:nvSpPr>
          <p:cNvPr id="15362" name="Content Placeholder 3"/>
          <p:cNvSpPr>
            <a:spLocks noGrp="1"/>
          </p:cNvSpPr>
          <p:nvPr>
            <p:ph idx="1"/>
          </p:nvPr>
        </p:nvSpPr>
        <p:spPr>
          <a:xfrm>
            <a:off x="381000" y="1447800"/>
            <a:ext cx="8305800" cy="5410200"/>
          </a:xfrm>
          <a:ln/>
        </p:spPr>
        <p:txBody>
          <a:bodyPr vert="horz" wrap="square" lIns="91440" tIns="45720" rIns="91440" bIns="45720" anchor="t" anchorCtr="0">
            <a:normAutofit/>
          </a:bodyPr>
          <a:lstStyle/>
          <a:p>
            <a:pPr algn="l"/>
            <a:r>
              <a:rPr lang="en-IN" sz="2000" b="1" i="0" dirty="0">
                <a:effectLst/>
                <a:latin typeface="Inter"/>
              </a:rPr>
              <a:t>Key Features:</a:t>
            </a:r>
            <a:endParaRPr lang="en-IN" sz="2000" b="0" i="0" dirty="0">
              <a:effectLst/>
              <a:latin typeface="Inter"/>
            </a:endParaRPr>
          </a:p>
          <a:p>
            <a:pPr algn="l">
              <a:buFont typeface="Arial" panose="020B0604020202020204" pitchFamily="34" charset="0"/>
              <a:buChar char="•"/>
            </a:pPr>
            <a:r>
              <a:rPr lang="en-IN" sz="2000" b="0" i="0" dirty="0">
                <a:effectLst/>
                <a:latin typeface="Inter"/>
              </a:rPr>
              <a:t>Real-time suspicious activity detection</a:t>
            </a:r>
          </a:p>
          <a:p>
            <a:pPr algn="l">
              <a:spcBef>
                <a:spcPts val="300"/>
              </a:spcBef>
              <a:buFont typeface="Arial" panose="020B0604020202020204" pitchFamily="34" charset="0"/>
              <a:buChar char="•"/>
            </a:pPr>
            <a:r>
              <a:rPr lang="en-IN" sz="2000" b="0" i="0" dirty="0">
                <a:effectLst/>
                <a:latin typeface="Inter"/>
              </a:rPr>
              <a:t>Multi-camera synchronization</a:t>
            </a:r>
          </a:p>
          <a:p>
            <a:pPr algn="l">
              <a:spcBef>
                <a:spcPts val="300"/>
              </a:spcBef>
              <a:buFont typeface="Arial" panose="020B0604020202020204" pitchFamily="34" charset="0"/>
              <a:buChar char="•"/>
            </a:pPr>
            <a:r>
              <a:rPr lang="en-IN" sz="2000" b="0" i="0" dirty="0">
                <a:effectLst/>
                <a:latin typeface="Inter"/>
              </a:rPr>
              <a:t>Edge computing compatibility</a:t>
            </a:r>
          </a:p>
          <a:p>
            <a:pPr algn="l">
              <a:spcBef>
                <a:spcPts val="300"/>
              </a:spcBef>
              <a:buFont typeface="Arial" panose="020B0604020202020204" pitchFamily="34" charset="0"/>
              <a:buChar char="•"/>
            </a:pPr>
            <a:r>
              <a:rPr lang="en-IN" sz="2000" b="0" i="0" dirty="0">
                <a:effectLst/>
                <a:latin typeface="Inter"/>
              </a:rPr>
              <a:t>Privacy-preserving blurring</a:t>
            </a:r>
          </a:p>
          <a:p>
            <a:pPr algn="l">
              <a:spcBef>
                <a:spcPts val="300"/>
              </a:spcBef>
              <a:buFont typeface="Arial" panose="020B0604020202020204" pitchFamily="34" charset="0"/>
              <a:buChar char="•"/>
            </a:pPr>
            <a:r>
              <a:rPr lang="en-IN" sz="2000" b="0" i="0" dirty="0">
                <a:effectLst/>
                <a:latin typeface="Inter"/>
              </a:rPr>
              <a:t>Alert escalation system (visual/sound/SMS)</a:t>
            </a:r>
          </a:p>
          <a:p>
            <a:pPr algn="l">
              <a:spcBef>
                <a:spcPts val="300"/>
              </a:spcBef>
              <a:buFont typeface="Arial" panose="020B0604020202020204" pitchFamily="34" charset="0"/>
              <a:buChar char="•"/>
            </a:pPr>
            <a:r>
              <a:rPr lang="en-IN" sz="2000" b="0" i="0" dirty="0">
                <a:effectLst/>
                <a:latin typeface="Inter"/>
              </a:rPr>
              <a:t>Encrypted evidence logging</a:t>
            </a:r>
          </a:p>
          <a:p>
            <a:pPr algn="l">
              <a:spcBef>
                <a:spcPts val="300"/>
              </a:spcBef>
              <a:buFont typeface="Arial" panose="020B0604020202020204" pitchFamily="34" charset="0"/>
              <a:buChar char="•"/>
            </a:pPr>
            <a:endParaRPr lang="en-IN" sz="2000" dirty="0">
              <a:latin typeface="Inter"/>
            </a:endParaRPr>
          </a:p>
          <a:p>
            <a:pPr marL="0" indent="0">
              <a:spcBef>
                <a:spcPts val="300"/>
              </a:spcBef>
              <a:buNone/>
            </a:pPr>
            <a:r>
              <a:rPr lang="en-US" sz="1800" dirty="0"/>
              <a:t>The proposed system leverages </a:t>
            </a:r>
            <a:r>
              <a:rPr lang="en-US" sz="1800" b="1" dirty="0"/>
              <a:t>YOLOv8 for real-time object detection</a:t>
            </a:r>
            <a:r>
              <a:rPr lang="en-US" sz="1800" dirty="0"/>
              <a:t>, </a:t>
            </a:r>
            <a:r>
              <a:rPr lang="en-US" sz="1800" b="1" dirty="0" err="1"/>
              <a:t>DeepSORT</a:t>
            </a:r>
            <a:r>
              <a:rPr lang="en-US" sz="1800" b="1" dirty="0"/>
              <a:t> for identity tracking</a:t>
            </a:r>
            <a:r>
              <a:rPr lang="en-US" sz="1800" dirty="0"/>
              <a:t>, and </a:t>
            </a:r>
            <a:r>
              <a:rPr lang="en-US" sz="1800" b="1" dirty="0"/>
              <a:t>OpenCV for video processing</a:t>
            </a:r>
            <a:r>
              <a:rPr lang="en-US" sz="1800" dirty="0"/>
              <a:t> to detect and track individuals in a retail store. It monitors </a:t>
            </a:r>
            <a:r>
              <a:rPr lang="en-US" sz="1800" b="1" dirty="0"/>
              <a:t>loitering behavior</a:t>
            </a:r>
            <a:r>
              <a:rPr lang="en-US" sz="1800" dirty="0"/>
              <a:t> (if a person stays in the same area beyond a threshold) and </a:t>
            </a:r>
            <a:r>
              <a:rPr lang="en-US" sz="1800" b="1" dirty="0"/>
              <a:t>concealment activities</a:t>
            </a:r>
            <a:r>
              <a:rPr lang="en-US" sz="1800" dirty="0"/>
              <a:t> (if an object moves near a person’s hands or body and disappears). The system provides </a:t>
            </a:r>
            <a:r>
              <a:rPr lang="en-US" sz="1800" b="1" dirty="0"/>
              <a:t>real-time alerts</a:t>
            </a:r>
            <a:r>
              <a:rPr lang="en-US" sz="1800" dirty="0"/>
              <a:t> through bounding boxes and warning messages on the video feed. This </a:t>
            </a:r>
            <a:r>
              <a:rPr lang="en-US" sz="1800" b="1" dirty="0"/>
              <a:t>AI-powered solution enhances surveillance efficiency, reduces human monitoring effort, and enables proactive theft prevention</a:t>
            </a:r>
            <a:r>
              <a:rPr lang="en-US" sz="1800" dirty="0"/>
              <a:t>.</a:t>
            </a:r>
          </a:p>
          <a:p>
            <a:pPr algn="l">
              <a:spcBef>
                <a:spcPts val="300"/>
              </a:spcBef>
              <a:buFont typeface="Arial" panose="020B0604020202020204" pitchFamily="34" charset="0"/>
              <a:buChar char="•"/>
            </a:pPr>
            <a:endParaRPr lang="en-IN" sz="2000" b="0" i="0" dirty="0">
              <a:effectLst/>
              <a:latin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04800" y="758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SYSTEM REQUIREMENT</a:t>
            </a:r>
          </a:p>
        </p:txBody>
      </p:sp>
      <p:sp>
        <p:nvSpPr>
          <p:cNvPr id="17410" name="Content Placeholder 2"/>
          <p:cNvSpPr>
            <a:spLocks noGrp="1"/>
          </p:cNvSpPr>
          <p:nvPr>
            <p:ph idx="1"/>
          </p:nvPr>
        </p:nvSpPr>
        <p:spPr>
          <a:xfrm>
            <a:off x="457200" y="1066483"/>
            <a:ext cx="8229600" cy="4525962"/>
          </a:xfrm>
          <a:ln/>
        </p:spPr>
        <p:txBody>
          <a:bodyPr vert="horz" wrap="square" lIns="91440" tIns="45720" rIns="91440" bIns="45720" anchor="t" anchorCtr="0">
            <a:noAutofit/>
          </a:bodyPr>
          <a:lstStyle/>
          <a:p>
            <a:pPr eaLnBrk="1" hangingPunct="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Software Requirements:</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•OS: Windows 10/11, Linux (Ubuntu 20.04+), or macOS</a:t>
            </a:r>
            <a:r>
              <a:rPr lang="en-IN" altLang="en-US" sz="1800" dirty="0">
                <a:latin typeface="Times New Roman" panose="02020603050405020304" pitchFamily="18" charset="0"/>
                <a:cs typeface="Times New Roman" panose="02020603050405020304" pitchFamily="18" charset="0"/>
              </a:rPr>
              <a:t> </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•Language: Python 3.8+</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•Libraries: </a:t>
            </a:r>
            <a:r>
              <a:rPr lang="en-IN" sz="1800" dirty="0" err="1">
                <a:latin typeface="Times New Roman" panose="02020603050405020304" pitchFamily="18" charset="0"/>
                <a:cs typeface="Times New Roman" panose="02020603050405020304" pitchFamily="18" charset="0"/>
              </a:rPr>
              <a:t>Ultralytics</a:t>
            </a:r>
            <a:r>
              <a:rPr lang="en-IN" sz="1800" dirty="0">
                <a:latin typeface="Times New Roman" panose="02020603050405020304" pitchFamily="18" charset="0"/>
                <a:cs typeface="Times New Roman" panose="02020603050405020304" pitchFamily="18" charset="0"/>
              </a:rPr>
              <a:t> YOLOv8, OpenCV, NumPy, Torch, </a:t>
            </a:r>
            <a:r>
              <a:rPr lang="en-IN" sz="1800" dirty="0" err="1">
                <a:latin typeface="Times New Roman" panose="02020603050405020304" pitchFamily="18" charset="0"/>
                <a:cs typeface="Times New Roman" panose="02020603050405020304" pitchFamily="18" charset="0"/>
              </a:rPr>
              <a:t>DeepSORT</a:t>
            </a:r>
            <a:r>
              <a:rPr lang="en-IN" sz="1800" dirty="0">
                <a:latin typeface="Times New Roman" panose="02020603050405020304" pitchFamily="18" charset="0"/>
                <a:cs typeface="Times New Roman" panose="02020603050405020304" pitchFamily="18" charset="0"/>
              </a:rPr>
              <a:t>, SciPy</a:t>
            </a:r>
            <a:r>
              <a:rPr lang="en-IN" altLang="en-US" sz="1800" dirty="0">
                <a:latin typeface="Times New Roman" panose="02020603050405020304" pitchFamily="18" charset="0"/>
                <a:cs typeface="Times New Roman" panose="02020603050405020304" pitchFamily="18" charset="0"/>
              </a:rPr>
              <a:t> </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•Tools: </a:t>
            </a:r>
            <a:r>
              <a:rPr lang="en-US" altLang="en-US" sz="1800" dirty="0" err="1">
                <a:latin typeface="Times New Roman" panose="02020603050405020304" pitchFamily="18" charset="0"/>
                <a:cs typeface="Times New Roman" panose="02020603050405020304" pitchFamily="18" charset="0"/>
              </a:rPr>
              <a:t>Jupyter</a:t>
            </a:r>
            <a:r>
              <a:rPr lang="en-US" altLang="en-US" sz="1800" dirty="0">
                <a:latin typeface="Times New Roman" panose="02020603050405020304" pitchFamily="18" charset="0"/>
                <a:cs typeface="Times New Roman" panose="02020603050405020304" pitchFamily="18" charset="0"/>
              </a:rPr>
              <a:t> Notebook, PyCharm/VS Code</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•Database: MySQL, PostgreSQL, or SQLite</a:t>
            </a:r>
          </a:p>
          <a:p>
            <a:pPr marL="109220" indent="0" eaLnBrk="1" hangingPunct="1">
              <a:buFont typeface="Wingdings" panose="05000000000000000000" pitchFamily="2" charset="2"/>
              <a:buNone/>
            </a:pPr>
            <a:endParaRPr lang="en-US" altLang="en-US" sz="1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Hardware Requirements:</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•Processor: Intel Core i5 or higher</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•RAM: 8 GB minimum (16 GB recommended)</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•Storage: 20 GB free disk space</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•GPU: NVIDIA GPU with CUDA (optional)</a:t>
            </a:r>
          </a:p>
          <a:p>
            <a:pPr marL="109220" indent="0" eaLnBrk="1" hangingPunct="1">
              <a:buFont typeface="Wingdings" panose="05000000000000000000" pitchFamily="2" charset="2"/>
              <a:buNone/>
            </a:pP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•Internet Connection: Required</a:t>
            </a:r>
          </a:p>
          <a:p>
            <a:pPr eaLnBrk="1" hangingPunct="1">
              <a:buFont typeface="Wingdings 3" panose="05040102010807070707" pitchFamily="18" charset="2"/>
              <a:buChar char=""/>
            </a:pPr>
            <a:endParaRPr lang="en-US" altLang="en-US" sz="1800" dirty="0">
              <a:latin typeface="Times New Roman" panose="02020603050405020304" pitchFamily="18" charset="0"/>
              <a:cs typeface="Times New Roman" panose="02020603050405020304" pitchFamily="18" charset="0"/>
            </a:endParaRPr>
          </a:p>
        </p:txBody>
      </p:sp>
      <p:sp>
        <p:nvSpPr>
          <p:cNvPr id="17411" name="Slide Number Placeholder 4"/>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5</a:t>
            </a:fld>
            <a:endParaRPr lang="en-US" altLang="en-US" sz="10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563562"/>
          </a:xfrm>
          <a:noFill/>
          <a:ln>
            <a:noFill/>
          </a:ln>
          <a:effectLst/>
          <a:sp3d prstMaterial="plastic"/>
        </p:spPr>
        <p:txBody>
          <a:bodyPr vert="horz" rtlCol="0" anchor="ctr">
            <a:normAutofit fontScale="90000"/>
            <a:scene3d>
              <a:camera prst="orthographicFront"/>
              <a:lightRig rig="soft" dir="t"/>
            </a:scene3d>
            <a:sp3d prstMaterial="softEdge">
              <a:bevelT w="25400" h="25400"/>
            </a:sp3d>
          </a:body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Char char="v"/>
              <a:defRPr/>
            </a:pPr>
            <a:r>
              <a:rPr kumimoji="0" lang="en-US" sz="4100" b="1" i="0" u="none" strike="noStrike" kern="1200" cap="small"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rPr>
              <a:t>Literature survey</a:t>
            </a:r>
            <a:endPar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endParaRPr>
          </a:p>
        </p:txBody>
      </p:sp>
      <p:graphicFrame>
        <p:nvGraphicFramePr>
          <p:cNvPr id="3" name="Table 2">
            <a:extLst>
              <a:ext uri="{FF2B5EF4-FFF2-40B4-BE49-F238E27FC236}">
                <a16:creationId xmlns:a16="http://schemas.microsoft.com/office/drawing/2014/main" id="{034D73F1-B588-819E-02D9-03D957C12D49}"/>
              </a:ext>
            </a:extLst>
          </p:cNvPr>
          <p:cNvGraphicFramePr>
            <a:graphicFrameLocks noGrp="1"/>
          </p:cNvGraphicFramePr>
          <p:nvPr>
            <p:extLst>
              <p:ext uri="{D42A27DB-BD31-4B8C-83A1-F6EECF244321}">
                <p14:modId xmlns:p14="http://schemas.microsoft.com/office/powerpoint/2010/main" val="940012129"/>
              </p:ext>
            </p:extLst>
          </p:nvPr>
        </p:nvGraphicFramePr>
        <p:xfrm>
          <a:off x="533400" y="792163"/>
          <a:ext cx="8077200" cy="5802311"/>
        </p:xfrm>
        <a:graphic>
          <a:graphicData uri="http://schemas.openxmlformats.org/drawingml/2006/table">
            <a:tbl>
              <a:tblPr/>
              <a:tblGrid>
                <a:gridCol w="1615440">
                  <a:extLst>
                    <a:ext uri="{9D8B030D-6E8A-4147-A177-3AD203B41FA5}">
                      <a16:colId xmlns:a16="http://schemas.microsoft.com/office/drawing/2014/main" val="1328052695"/>
                    </a:ext>
                  </a:extLst>
                </a:gridCol>
                <a:gridCol w="1615440">
                  <a:extLst>
                    <a:ext uri="{9D8B030D-6E8A-4147-A177-3AD203B41FA5}">
                      <a16:colId xmlns:a16="http://schemas.microsoft.com/office/drawing/2014/main" val="3798894113"/>
                    </a:ext>
                  </a:extLst>
                </a:gridCol>
                <a:gridCol w="1615440">
                  <a:extLst>
                    <a:ext uri="{9D8B030D-6E8A-4147-A177-3AD203B41FA5}">
                      <a16:colId xmlns:a16="http://schemas.microsoft.com/office/drawing/2014/main" val="2692458397"/>
                    </a:ext>
                  </a:extLst>
                </a:gridCol>
                <a:gridCol w="1615440">
                  <a:extLst>
                    <a:ext uri="{9D8B030D-6E8A-4147-A177-3AD203B41FA5}">
                      <a16:colId xmlns:a16="http://schemas.microsoft.com/office/drawing/2014/main" val="2841835355"/>
                    </a:ext>
                  </a:extLst>
                </a:gridCol>
                <a:gridCol w="1615440">
                  <a:extLst>
                    <a:ext uri="{9D8B030D-6E8A-4147-A177-3AD203B41FA5}">
                      <a16:colId xmlns:a16="http://schemas.microsoft.com/office/drawing/2014/main" val="2161238997"/>
                    </a:ext>
                  </a:extLst>
                </a:gridCol>
              </a:tblGrid>
              <a:tr h="704531">
                <a:tc>
                  <a:txBody>
                    <a:bodyPr/>
                    <a:lstStyle/>
                    <a:p>
                      <a:pPr algn="l"/>
                      <a:r>
                        <a:rPr lang="en-IN" b="1" dirty="0">
                          <a:effectLst/>
                        </a:rPr>
                        <a:t>SNO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b="1">
                          <a:effectLst/>
                        </a:rPr>
                        <a:t>Paper Title, Author, &amp; 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b="1">
                          <a:effectLst/>
                        </a:rPr>
                        <a:t>Algorithm/Technique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b="1">
                          <a:effectLst/>
                        </a:rPr>
                        <a:t>Pros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b="1" dirty="0">
                          <a:effectLst/>
                        </a:rPr>
                        <a:t>Cons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931510"/>
                  </a:ext>
                </a:extLst>
              </a:tr>
              <a:tr h="704531">
                <a:tc>
                  <a:txBody>
                    <a:bodyPr/>
                    <a:lstStyle/>
                    <a:p>
                      <a:r>
                        <a:rPr lang="en-IN" dirty="0">
                          <a:effectLs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effectLst/>
                        </a:rPr>
                        <a:t>Real-Time Anomaly Detection in Retail Surveillance Using Deep Learning</a:t>
                      </a:r>
                      <a:r>
                        <a:rPr lang="en-US" dirty="0">
                          <a:effectLst/>
                        </a:rPr>
                        <a:t> [Chen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a:effectLst/>
                        </a:rPr>
                        <a:t>YOLOv5 + LSTM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High detection accuracy (98.3%), real-time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Requires GPU for inference, limited occlusion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9282071"/>
                  </a:ext>
                </a:extLst>
              </a:tr>
              <a:tr h="704531">
                <a:tc>
                  <a:txBody>
                    <a:bodyPr/>
                    <a:lstStyle/>
                    <a:p>
                      <a:r>
                        <a:rPr lang="en-IN">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effectLst/>
                        </a:rPr>
                        <a:t>Human Action Recognition for Theft Detection in Surveillance Videos</a:t>
                      </a:r>
                      <a:r>
                        <a:rPr lang="en-US" dirty="0">
                          <a:effectLst/>
                        </a:rPr>
                        <a:t> [Wang &amp; Li,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a:effectLst/>
                        </a:rPr>
                        <a:t>3D CNN + Optical 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Captures temporal features, robust to lighting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Computationally intensive (15 FPS on GPU)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6828456"/>
                  </a:ext>
                </a:extLst>
              </a:tr>
              <a:tr h="595208">
                <a:tc>
                  <a:txBody>
                    <a:bodyPr/>
                    <a:lstStyle/>
                    <a:p>
                      <a:r>
                        <a:rPr lang="en-US" dirty="0">
                          <a:effectLst/>
                        </a:rPr>
                        <a:t>3</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a:effectLst/>
                        </a:rPr>
                        <a:t>Edge AI for Real-Time Shoplifting Alerts in CCTV Systems</a:t>
                      </a:r>
                      <a:r>
                        <a:rPr lang="en-US">
                          <a:effectLst/>
                        </a:rPr>
                        <a:t> [Kim et al., 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a:effectLst/>
                        </a:rPr>
                        <a:t>Tiny-YOLOv4 + DeepSORT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Low latency (8ms/frame), works on Jetson Nano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dirty="0">
                          <a:effectLst/>
                        </a:rPr>
                        <a:t>Lower accuracy (89.4%) compared to larger models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7417586"/>
                  </a:ext>
                </a:extLst>
              </a:tr>
              <a:tr h="704531">
                <a:tc>
                  <a:txBody>
                    <a:bodyPr/>
                    <a:lstStyle/>
                    <a:p>
                      <a:r>
                        <a:rPr lang="en-US" dirty="0">
                          <a:effectLst/>
                        </a:rPr>
                        <a:t>4</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1" dirty="0">
                          <a:effectLst/>
                        </a:rPr>
                        <a:t>Privacy-Aware Shoplifting Detection Using Thermal Imaging</a:t>
                      </a:r>
                      <a:r>
                        <a:rPr lang="en-US" dirty="0">
                          <a:effectLst/>
                        </a:rPr>
                        <a:t> [Nguyen et al., 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effectLst/>
                        </a:rPr>
                        <a:t>Thermal CNN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effectLst/>
                        </a:rPr>
                        <a:t>Works in low light, avoids facial privacy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effectLst/>
                        </a:rPr>
                        <a:t>Limited object recognition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096511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09600" y="274638"/>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ARCHITECTURE DIAGRAM</a:t>
            </a:r>
          </a:p>
        </p:txBody>
      </p:sp>
      <p:sp>
        <p:nvSpPr>
          <p:cNvPr id="24578" name="Slide Number Placeholder 9"/>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7</a:t>
            </a:fld>
            <a:endParaRPr lang="en-US" altLang="en-US" sz="1000" dirty="0">
              <a:latin typeface="Arial" panose="020B0604020202020204" pitchFamily="34" charset="0"/>
            </a:endParaRPr>
          </a:p>
        </p:txBody>
      </p:sp>
      <p:pic>
        <p:nvPicPr>
          <p:cNvPr id="4098" name="Picture 2" descr="PlantUML Diagram">
            <a:extLst>
              <a:ext uri="{FF2B5EF4-FFF2-40B4-BE49-F238E27FC236}">
                <a16:creationId xmlns:a16="http://schemas.microsoft.com/office/drawing/2014/main" id="{378EFFBB-60D6-4E57-503A-D77217A00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1456695"/>
            <a:ext cx="4017962" cy="50876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lantUML Diagram">
            <a:extLst>
              <a:ext uri="{FF2B5EF4-FFF2-40B4-BE49-F238E27FC236}">
                <a16:creationId xmlns:a16="http://schemas.microsoft.com/office/drawing/2014/main" id="{BE02A6A1-8CCB-85DC-956B-E8D16163D1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1317101"/>
            <a:ext cx="4017962" cy="52662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5DB9-4D71-1F1F-70AA-2D33C21969E9}"/>
            </a:ext>
          </a:extLst>
        </p:cNvPr>
        <p:cNvGrpSpPr/>
        <p:nvPr/>
      </p:nvGrpSpPr>
      <p:grpSpPr>
        <a:xfrm>
          <a:off x="0" y="0"/>
          <a:ext cx="0" cy="0"/>
          <a:chOff x="0" y="0"/>
          <a:chExt cx="0" cy="0"/>
        </a:xfrm>
      </p:grpSpPr>
      <p:sp>
        <p:nvSpPr>
          <p:cNvPr id="14338" name="Title 1">
            <a:extLst>
              <a:ext uri="{FF2B5EF4-FFF2-40B4-BE49-F238E27FC236}">
                <a16:creationId xmlns:a16="http://schemas.microsoft.com/office/drawing/2014/main" id="{C44D3EC6-3250-D591-ECEF-34C872C29FB7}"/>
              </a:ext>
            </a:extLst>
          </p:cNvPr>
          <p:cNvSpPr>
            <a:spLocks noGrp="1"/>
          </p:cNvSpPr>
          <p:nvPr>
            <p:ph type="title"/>
          </p:nvPr>
        </p:nvSpPr>
        <p:spPr>
          <a:xfrm>
            <a:off x="609600" y="274638"/>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USE CASE DIAGRAM</a:t>
            </a:r>
          </a:p>
        </p:txBody>
      </p:sp>
      <p:sp>
        <p:nvSpPr>
          <p:cNvPr id="24578" name="Slide Number Placeholder 9">
            <a:extLst>
              <a:ext uri="{FF2B5EF4-FFF2-40B4-BE49-F238E27FC236}">
                <a16:creationId xmlns:a16="http://schemas.microsoft.com/office/drawing/2014/main" id="{6124A108-531B-9AB5-2AA7-2960B0D171B3}"/>
              </a:ext>
            </a:extLst>
          </p:cNvPr>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8</a:t>
            </a:fld>
            <a:endParaRPr lang="en-US" altLang="en-US" sz="1000" dirty="0">
              <a:latin typeface="Arial" panose="020B0604020202020204" pitchFamily="34" charset="0"/>
            </a:endParaRPr>
          </a:p>
        </p:txBody>
      </p:sp>
      <p:pic>
        <p:nvPicPr>
          <p:cNvPr id="5130" name="Picture 10" descr="PlantUML Diagram">
            <a:extLst>
              <a:ext uri="{FF2B5EF4-FFF2-40B4-BE49-F238E27FC236}">
                <a16:creationId xmlns:a16="http://schemas.microsoft.com/office/drawing/2014/main" id="{A9B1DF5E-F6DD-0FCC-9C46-B13289B410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2601"/>
            <a:ext cx="91440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45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3044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IN" alt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      CLASS</a:t>
            </a: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 DIAGRAM </a:t>
            </a:r>
            <a:b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br>
            <a:endPar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endParaRPr>
          </a:p>
        </p:txBody>
      </p:sp>
      <p:sp>
        <p:nvSpPr>
          <p:cNvPr id="26626" name="Slide Number Placeholder 9"/>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9</a:t>
            </a:fld>
            <a:endParaRPr lang="en-US" altLang="en-US" sz="1000" dirty="0">
              <a:latin typeface="Arial" panose="020B0604020202020204" pitchFamily="34" charset="0"/>
            </a:endParaRPr>
          </a:p>
        </p:txBody>
      </p:sp>
      <p:pic>
        <p:nvPicPr>
          <p:cNvPr id="6148" name="Picture 4" descr="PlantUML Diagram">
            <a:extLst>
              <a:ext uri="{FF2B5EF4-FFF2-40B4-BE49-F238E27FC236}">
                <a16:creationId xmlns:a16="http://schemas.microsoft.com/office/drawing/2014/main" id="{68CB35DE-5E9E-B35A-AC5F-2F853A2E7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1716881"/>
            <a:ext cx="8153400" cy="34242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bwMode="auto">
          <a:noFill/>
          <a:ln>
            <a:noFill/>
          </a:ln>
          <a:effectLst/>
          <a:sp3d prstMaterial="plastic"/>
        </p:spPr>
        <p:txBody>
          <a:bodyPr vert="horz" wrap="square" lIns="91440" tIns="45720" rIns="91440" bIns="45720" numCol="1" rtlCol="0" anchor="ctr" anchorCtr="0" compatLnSpc="1">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000" b="1" i="0" u="none" strike="noStrike" kern="1200" cap="none"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SEQUENCE DIAGRAM</a:t>
            </a:r>
          </a:p>
        </p:txBody>
      </p:sp>
      <p:pic>
        <p:nvPicPr>
          <p:cNvPr id="7172" name="Picture 4" descr="PlantUML Diagram">
            <a:extLst>
              <a:ext uri="{FF2B5EF4-FFF2-40B4-BE49-F238E27FC236}">
                <a16:creationId xmlns:a16="http://schemas.microsoft.com/office/drawing/2014/main" id="{897022BB-4A59-2838-787D-365148A811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7958" y="1524000"/>
            <a:ext cx="7361523" cy="48199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381000" y="228283"/>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CONCLUSION</a:t>
            </a:r>
          </a:p>
        </p:txBody>
      </p:sp>
      <p:sp>
        <p:nvSpPr>
          <p:cNvPr id="39938" name="Content Placeholder 3"/>
          <p:cNvSpPr>
            <a:spLocks noGrp="1"/>
          </p:cNvSpPr>
          <p:nvPr>
            <p:ph idx="1"/>
          </p:nvPr>
        </p:nvSpPr>
        <p:spPr>
          <a:ln/>
        </p:spPr>
        <p:txBody>
          <a:bodyPr vert="horz" wrap="square" lIns="91440" tIns="45720" rIns="91440" bIns="45720" anchor="t" anchorCtr="0">
            <a:normAutofit/>
          </a:bodyPr>
          <a:lstStyle/>
          <a:p>
            <a:r>
              <a:rPr lang="en-US" sz="2000" dirty="0"/>
              <a:t>The AI-based </a:t>
            </a:r>
            <a:r>
              <a:rPr lang="en-US" sz="2000" b="1" dirty="0"/>
              <a:t>shoplifting detection system</a:t>
            </a:r>
            <a:r>
              <a:rPr lang="en-US" sz="2000" dirty="0"/>
              <a:t> significantly improves retail security by </a:t>
            </a:r>
            <a:r>
              <a:rPr lang="en-US" sz="2000" b="1" dirty="0"/>
              <a:t>automating theft detection through real-time object recognition and tracking</a:t>
            </a:r>
            <a:r>
              <a:rPr lang="en-US" sz="2000" dirty="0"/>
              <a:t>. Compared to traditional CCTV monitoring, this system offers </a:t>
            </a:r>
            <a:r>
              <a:rPr lang="en-US" sz="2000" b="1" dirty="0"/>
              <a:t>higher accuracy, real-time intervention, and reduced reliance on manual oversight</a:t>
            </a:r>
            <a:r>
              <a:rPr lang="en-US" sz="2000" dirty="0"/>
              <a:t>. </a:t>
            </a:r>
          </a:p>
          <a:p>
            <a:endParaRPr lang="en-US" sz="2000" dirty="0"/>
          </a:p>
          <a:p>
            <a:r>
              <a:rPr lang="en-US" sz="2000" dirty="0"/>
              <a:t>By </a:t>
            </a:r>
            <a:r>
              <a:rPr lang="en-US" sz="2000" b="1" dirty="0"/>
              <a:t>identifying loitering and concealment behaviors</a:t>
            </a:r>
            <a:r>
              <a:rPr lang="en-US" sz="2000" dirty="0"/>
              <a:t>, it provides early warnings to security personnel, </a:t>
            </a:r>
            <a:r>
              <a:rPr lang="en-US" sz="2000" b="1" dirty="0"/>
              <a:t>reducing financial losses from shoplifting</a:t>
            </a:r>
            <a:r>
              <a:rPr lang="en-US" sz="2000" dirty="0"/>
              <a:t>. Future enhancements could include </a:t>
            </a:r>
            <a:r>
              <a:rPr lang="en-US" sz="2000" b="1" dirty="0"/>
              <a:t>multi-camera integration, cloud-based monitoring, and predictive analytics</a:t>
            </a:r>
            <a:r>
              <a:rPr lang="en-US" sz="2000" dirty="0"/>
              <a:t> for more robust retail security.</a:t>
            </a:r>
          </a:p>
        </p:txBody>
      </p:sp>
      <p:sp>
        <p:nvSpPr>
          <p:cNvPr id="39939" name="Slide Number Placeholder 10"/>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11</a:t>
            </a:fld>
            <a:endParaRPr lang="en-US" altLang="en-US" sz="1000" dirty="0">
              <a:latin typeface="Arial" panose="020B0604020202020204" pitchFamily="34" charset="0"/>
            </a:endParaRPr>
          </a:p>
        </p:txBody>
      </p:sp>
      <p:sp>
        <p:nvSpPr>
          <p:cNvPr id="39941" name="Rectangle 2"/>
          <p:cNvSpPr/>
          <p:nvPr/>
        </p:nvSpPr>
        <p:spPr>
          <a:xfrm>
            <a:off x="533400" y="1752600"/>
            <a:ext cx="7543800" cy="738188"/>
          </a:xfrm>
          <a:prstGeom prst="rect">
            <a:avLst/>
          </a:prstGeom>
          <a:noFill/>
          <a:ln w="9525">
            <a:noFill/>
          </a:ln>
        </p:spPr>
        <p:txBody>
          <a:bodyPr>
            <a:spAutoFit/>
          </a:bodyPr>
          <a:lstStyle>
            <a:lvl1pPr marL="365125" indent="-255905"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en-US" altLang="en-US" sz="1800" dirty="0">
              <a:latin typeface="Gill Sans MT" panose="020B0502020104020203" pitchFamily="34" charset="0"/>
            </a:endParaRPr>
          </a:p>
          <a:p>
            <a:pPr marL="0" lvl="0" indent="0" algn="just" eaLnBrk="1" hangingPunct="1">
              <a:spcBef>
                <a:spcPct val="0"/>
              </a:spcBef>
              <a:buClrTx/>
              <a:buSzTx/>
              <a:buFontTx/>
              <a:buNone/>
            </a:pPr>
            <a:endParaRPr lang="en-US" altLang="en-US" sz="1800" dirty="0">
              <a:latin typeface="Gill Sans MT" panose="020B05020201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25" y="1259375"/>
            <a:ext cx="9020175" cy="5605145"/>
            <a:chOff x="-6025" y="1259375"/>
            <a:chExt cx="9020175" cy="5605145"/>
          </a:xfrm>
        </p:grpSpPr>
        <p:pic>
          <p:nvPicPr>
            <p:cNvPr id="3" name="object 3"/>
            <p:cNvPicPr/>
            <p:nvPr/>
          </p:nvPicPr>
          <p:blipFill>
            <a:blip r:embed="rId2" cstate="print"/>
            <a:stretch>
              <a:fillRect/>
            </a:stretch>
          </p:blipFill>
          <p:spPr>
            <a:xfrm>
              <a:off x="70374" y="1259375"/>
              <a:ext cx="4722299" cy="5264499"/>
            </a:xfrm>
            <a:prstGeom prst="rect">
              <a:avLst/>
            </a:prstGeom>
          </p:spPr>
        </p:pic>
        <p:pic>
          <p:nvPicPr>
            <p:cNvPr id="4" name="object 4"/>
            <p:cNvPicPr/>
            <p:nvPr/>
          </p:nvPicPr>
          <p:blipFill>
            <a:blip r:embed="rId3" cstate="print"/>
            <a:stretch>
              <a:fillRect/>
            </a:stretch>
          </p:blipFill>
          <p:spPr>
            <a:xfrm>
              <a:off x="4885125" y="1259375"/>
              <a:ext cx="4128599" cy="5264501"/>
            </a:xfrm>
            <a:prstGeom prst="rect">
              <a:avLst/>
            </a:prstGeom>
          </p:spPr>
        </p:pic>
      </p:grpSp>
      <p:sp>
        <p:nvSpPr>
          <p:cNvPr id="5" name="object 5"/>
          <p:cNvSpPr txBox="1">
            <a:spLocks noGrp="1"/>
          </p:cNvSpPr>
          <p:nvPr>
            <p:ph type="title"/>
          </p:nvPr>
        </p:nvSpPr>
        <p:spPr>
          <a:xfrm>
            <a:off x="336335" y="-62173"/>
            <a:ext cx="7886700" cy="992709"/>
          </a:xfrm>
          <a:prstGeom prst="rect">
            <a:avLst/>
          </a:prstGeom>
        </p:spPr>
        <p:txBody>
          <a:bodyPr vert="horz" wrap="square" lIns="0" tIns="358268" rIns="0" bIns="0" rtlCol="0">
            <a:spAutoFit/>
          </a:bodyPr>
          <a:lstStyle/>
          <a:p>
            <a:pPr marL="1617345">
              <a:lnSpc>
                <a:spcPct val="100000"/>
              </a:lnSpc>
              <a:spcBef>
                <a:spcPts val="100"/>
              </a:spcBef>
            </a:pPr>
            <a:r>
              <a:rPr lang="en-US" sz="4100" u="heavy" spc="335" dirty="0">
                <a:uFill>
                  <a:solidFill>
                    <a:srgbClr val="464646"/>
                  </a:solidFill>
                </a:uFill>
                <a:latin typeface="Trebuchet MS"/>
                <a:cs typeface="Trebuchet MS"/>
              </a:rPr>
              <a:t>Code </a:t>
            </a:r>
            <a:endParaRPr sz="4100" dirty="0">
              <a:latin typeface="Trebuchet MS"/>
              <a:cs typeface="Trebuchet MS"/>
            </a:endParaRPr>
          </a:p>
        </p:txBody>
      </p:sp>
      <p:sp>
        <p:nvSpPr>
          <p:cNvPr id="6" name="object 6"/>
          <p:cNvSpPr txBox="1">
            <a:spLocks noGrp="1"/>
          </p:cNvSpPr>
          <p:nvPr>
            <p:ph type="sldNum" sz="quarter" idx="7"/>
          </p:nvPr>
        </p:nvSpPr>
        <p:spPr>
          <a:xfrm>
            <a:off x="8748680" y="6577588"/>
            <a:ext cx="230617" cy="167664"/>
          </a:xfrm>
          <a:prstGeom prst="rect">
            <a:avLst/>
          </a:prstGeom>
        </p:spPr>
        <p:txBody>
          <a:bodyPr vert="horz" wrap="square" lIns="0" tIns="0" rIns="0" bIns="0" rtlCol="0">
            <a:spAutoFit/>
          </a:bodyPr>
          <a:lstStyle>
            <a:defPPr>
              <a:defRPr kern="0"/>
            </a:defPPr>
            <a:lvl1pPr>
              <a:defRPr sz="1000" b="0" i="0">
                <a:solidFill>
                  <a:schemeClr val="tx1"/>
                </a:solidFill>
                <a:latin typeface="Arial MT"/>
                <a:cs typeface="Arial MT"/>
              </a:defRPr>
            </a:lvl1pPr>
          </a:lstStyle>
          <a:p>
            <a:pPr marL="38100">
              <a:lnSpc>
                <a:spcPct val="100000"/>
              </a:lnSpc>
              <a:spcBef>
                <a:spcPts val="5"/>
              </a:spcBef>
            </a:pPr>
            <a:fld id="{81D60167-4931-47E6-BA6A-407CBD079E47}" type="slidenum">
              <a:rPr lang="en-IN" spc="-25" smtClean="0"/>
              <a:pPr marL="38100">
                <a:lnSpc>
                  <a:spcPct val="100000"/>
                </a:lnSpc>
                <a:spcBef>
                  <a:spcPts val="5"/>
                </a:spcBef>
              </a:pPr>
              <a:t>12</a:t>
            </a:fld>
            <a:endParaRPr spc="-25" dirty="0"/>
          </a:p>
        </p:txBody>
      </p:sp>
      <p:sp>
        <p:nvSpPr>
          <p:cNvPr id="7" name="object 7"/>
          <p:cNvSpPr txBox="1"/>
          <p:nvPr/>
        </p:nvSpPr>
        <p:spPr>
          <a:xfrm>
            <a:off x="318750" y="6595864"/>
            <a:ext cx="1450340" cy="205104"/>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0" dirty="0">
                <a:latin typeface="Lucida Sans Unicode"/>
                <a:cs typeface="Lucida Sans Unicode"/>
              </a:rPr>
              <a:t> </a:t>
            </a:r>
            <a:r>
              <a:rPr sz="1200" dirty="0">
                <a:latin typeface="Lucida Sans Unicode"/>
                <a:cs typeface="Lucida Sans Unicode"/>
              </a:rPr>
              <a:t>9:</a:t>
            </a:r>
            <a:r>
              <a:rPr sz="1200" spc="-20" dirty="0">
                <a:latin typeface="Lucida Sans Unicode"/>
                <a:cs typeface="Lucida Sans Unicode"/>
              </a:rPr>
              <a:t> </a:t>
            </a:r>
            <a:r>
              <a:rPr sz="1200" dirty="0">
                <a:latin typeface="Lucida Sans Unicode"/>
                <a:cs typeface="Lucida Sans Unicode"/>
              </a:rPr>
              <a:t>App.py</a:t>
            </a:r>
            <a:r>
              <a:rPr sz="1200" spc="-15" dirty="0">
                <a:latin typeface="Lucida Sans Unicode"/>
                <a:cs typeface="Lucida Sans Unicode"/>
              </a:rPr>
              <a:t> </a:t>
            </a:r>
            <a:r>
              <a:rPr sz="1200" spc="-20" dirty="0">
                <a:latin typeface="Lucida Sans Unicode"/>
                <a:cs typeface="Lucida Sans Unicode"/>
              </a:rPr>
              <a:t>Code</a:t>
            </a:r>
            <a:endParaRPr sz="1200">
              <a:latin typeface="Lucida Sans Unicode"/>
              <a:cs typeface="Lucida Sans Unicode"/>
            </a:endParaRPr>
          </a:p>
        </p:txBody>
      </p:sp>
      <p:sp>
        <p:nvSpPr>
          <p:cNvPr id="8" name="object 8"/>
          <p:cNvSpPr txBox="1"/>
          <p:nvPr/>
        </p:nvSpPr>
        <p:spPr>
          <a:xfrm>
            <a:off x="5430449" y="6595864"/>
            <a:ext cx="2113280" cy="205104"/>
          </a:xfrm>
          <a:prstGeom prst="rect">
            <a:avLst/>
          </a:prstGeom>
        </p:spPr>
        <p:txBody>
          <a:bodyPr vert="horz" wrap="square" lIns="0" tIns="7620" rIns="0" bIns="0" rtlCol="0">
            <a:spAutoFit/>
          </a:bodyPr>
          <a:lstStyle/>
          <a:p>
            <a:pPr marL="12700">
              <a:lnSpc>
                <a:spcPct val="100000"/>
              </a:lnSpc>
              <a:spcBef>
                <a:spcPts val="60"/>
              </a:spcBef>
            </a:pPr>
            <a:r>
              <a:rPr sz="1200" dirty="0">
                <a:latin typeface="Lucida Sans Unicode"/>
                <a:cs typeface="Lucida Sans Unicode"/>
              </a:rPr>
              <a:t>FIG</a:t>
            </a:r>
            <a:r>
              <a:rPr sz="1200" spc="-25" dirty="0">
                <a:latin typeface="Lucida Sans Unicode"/>
                <a:cs typeface="Lucida Sans Unicode"/>
              </a:rPr>
              <a:t> </a:t>
            </a:r>
            <a:r>
              <a:rPr sz="1200" dirty="0">
                <a:latin typeface="Lucida Sans Unicode"/>
                <a:cs typeface="Lucida Sans Unicode"/>
              </a:rPr>
              <a:t>10:</a:t>
            </a:r>
            <a:r>
              <a:rPr sz="1200" spc="-25" dirty="0">
                <a:latin typeface="Lucida Sans Unicode"/>
                <a:cs typeface="Lucida Sans Unicode"/>
              </a:rPr>
              <a:t> </a:t>
            </a:r>
            <a:r>
              <a:rPr sz="1200" dirty="0">
                <a:latin typeface="Lucida Sans Unicode"/>
                <a:cs typeface="Lucida Sans Unicode"/>
              </a:rPr>
              <a:t>App.py</a:t>
            </a:r>
            <a:r>
              <a:rPr sz="1200" spc="-25" dirty="0">
                <a:latin typeface="Lucida Sans Unicode"/>
                <a:cs typeface="Lucida Sans Unicode"/>
              </a:rPr>
              <a:t> </a:t>
            </a:r>
            <a:r>
              <a:rPr sz="1200" dirty="0">
                <a:latin typeface="Lucida Sans Unicode"/>
                <a:cs typeface="Lucida Sans Unicode"/>
              </a:rPr>
              <a:t>Code</a:t>
            </a:r>
            <a:r>
              <a:rPr sz="1200" spc="-25" dirty="0">
                <a:latin typeface="Lucida Sans Unicode"/>
                <a:cs typeface="Lucida Sans Unicode"/>
              </a:rPr>
              <a:t> </a:t>
            </a:r>
            <a:r>
              <a:rPr sz="1200" spc="-10" dirty="0">
                <a:latin typeface="Lucida Sans Unicode"/>
                <a:cs typeface="Lucida Sans Unicode"/>
              </a:rPr>
              <a:t>(cont..)</a:t>
            </a:r>
            <a:endParaRPr sz="1200">
              <a:latin typeface="Lucida Sans Unicode"/>
              <a:cs typeface="Lucida Sans Unico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81000" y="274638"/>
            <a:ext cx="9144000" cy="1143000"/>
          </a:xfrm>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Times New Roman" panose="02020603050405020304" pitchFamily="18" charset="0"/>
                <a:ea typeface="+mj-ea"/>
                <a:cs typeface="Times New Roman" panose="02020603050405020304" pitchFamily="18" charset="0"/>
              </a:rPr>
              <a:t>REFERENCE</a:t>
            </a:r>
          </a:p>
        </p:txBody>
      </p:sp>
      <p:sp>
        <p:nvSpPr>
          <p:cNvPr id="41986" name="Content Placeholder 2"/>
          <p:cNvSpPr>
            <a:spLocks noGrp="1"/>
          </p:cNvSpPr>
          <p:nvPr>
            <p:ph idx="1"/>
          </p:nvPr>
        </p:nvSpPr>
        <p:spPr>
          <a:xfrm>
            <a:off x="457200" y="1600200"/>
            <a:ext cx="8305800" cy="5105400"/>
          </a:xfrm>
          <a:solidFill>
            <a:schemeClr val="bg1"/>
          </a:solidFill>
          <a:ln/>
        </p:spPr>
        <p:txBody>
          <a:bodyPr vert="horz" wrap="square" lIns="91440" tIns="45720" rIns="91440" bIns="45720" anchor="t" anchorCtr="0"/>
          <a:lstStyle/>
          <a:p>
            <a:pPr algn="just" eaLnBrk="1" hangingPunct="1"/>
            <a:r>
              <a:rPr lang="en-IN" sz="2000" u="sng" dirty="0">
                <a:solidFill>
                  <a:schemeClr val="tx1"/>
                </a:solidFill>
                <a:sym typeface="+mn-ea"/>
                <a:hlinkClick r:id="rId3"/>
              </a:rPr>
              <a:t>https://universe.roboflow.com/stevens-institute-of-technology-xjltl/shoplifting-detection-oxvwp/model/1</a:t>
            </a:r>
            <a:endParaRPr lang="en-IN" sz="2000" u="sng" dirty="0">
              <a:solidFill>
                <a:schemeClr val="tx1"/>
              </a:solidFill>
              <a:sym typeface="+mn-ea"/>
            </a:endParaRPr>
          </a:p>
          <a:p>
            <a:pPr algn="just" eaLnBrk="1" hangingPunct="1"/>
            <a:endParaRPr lang="en-IN" sz="2000" u="sng" dirty="0">
              <a:solidFill>
                <a:schemeClr val="tx1"/>
              </a:solidFill>
              <a:sym typeface="+mn-ea"/>
              <a:hlinkClick r:id="rId4"/>
            </a:endParaRPr>
          </a:p>
          <a:p>
            <a:pPr algn="just" eaLnBrk="1" hangingPunct="1"/>
            <a:r>
              <a:rPr lang="en-IN" sz="2000" u="sng" dirty="0">
                <a:solidFill>
                  <a:schemeClr val="tx1"/>
                </a:solidFill>
                <a:sym typeface="+mn-ea"/>
                <a:hlinkClick r:id="rId4"/>
              </a:rPr>
              <a:t>https://www.kaggle.com/datasets/mateohervas/dcsass-dataset/code</a:t>
            </a:r>
            <a:endParaRPr lang="en-IN" sz="2000" u="sng" dirty="0">
              <a:solidFill>
                <a:schemeClr val="tx1"/>
              </a:solidFill>
              <a:sym typeface="+mn-ea"/>
            </a:endParaRPr>
          </a:p>
          <a:p>
            <a:pPr algn="just" eaLnBrk="1" hangingPunct="1"/>
            <a:endParaRPr lang="en-IN" sz="2000" u="sng" dirty="0">
              <a:solidFill>
                <a:schemeClr val="tx1"/>
              </a:solidFill>
              <a:sym typeface="+mn-ea"/>
              <a:hlinkClick r:id="rId5"/>
            </a:endParaRPr>
          </a:p>
          <a:p>
            <a:pPr algn="just" eaLnBrk="1" hangingPunct="1"/>
            <a:r>
              <a:rPr lang="en-IN" sz="2000" u="sng" dirty="0">
                <a:solidFill>
                  <a:schemeClr val="tx1"/>
                </a:solidFill>
                <a:sym typeface="+mn-ea"/>
                <a:hlinkClick r:id="rId5"/>
              </a:rPr>
              <a:t>https://www.mdpi.com/2076-3417/13/14/8341</a:t>
            </a:r>
            <a:endParaRPr lang="en-IN" sz="2000" u="sng" dirty="0">
              <a:solidFill>
                <a:schemeClr val="tx1"/>
              </a:solidFill>
              <a:sym typeface="+mn-ea"/>
            </a:endParaRPr>
          </a:p>
          <a:p>
            <a:pPr algn="just" eaLnBrk="1" hangingPunct="1"/>
            <a:endParaRPr lang="en-IN" sz="2000" u="sng" dirty="0">
              <a:sym typeface="+mn-ea"/>
            </a:endParaRPr>
          </a:p>
          <a:p>
            <a:pPr algn="just" eaLnBrk="1" hangingPunct="1"/>
            <a:r>
              <a:rPr lang="en-IN" sz="2000" u="sng" dirty="0">
                <a:solidFill>
                  <a:schemeClr val="tx1"/>
                </a:solidFill>
                <a:sym typeface="+mn-ea"/>
              </a:rPr>
              <a:t>https://ieeexplore.ieee.org/abstract/document/10707900 </a:t>
            </a:r>
            <a:endParaRPr lang="en-IN" altLang="en-US" sz="2000" u="sng" dirty="0">
              <a:solidFill>
                <a:schemeClr val="tx1"/>
              </a:solidFill>
            </a:endParaRPr>
          </a:p>
        </p:txBody>
      </p:sp>
      <p:sp>
        <p:nvSpPr>
          <p:cNvPr id="41987" name="Slide Number Placeholder 4"/>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13</a:t>
            </a:fld>
            <a:endParaRPr lang="en-US" altLang="en-US" sz="1000"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noFill/>
          <a:ln>
            <a:noFill/>
          </a:ln>
          <a:effectLst/>
          <a:sp3d prstMaterial="plastic"/>
        </p:spPr>
        <p:txBody>
          <a:bodyPr vert="horz" rtlCol="0" anchor="ctr">
            <a:normAutofit/>
            <a:scene3d>
              <a:camera prst="orthographicFront"/>
              <a:lightRig rig="soft" dir="t"/>
            </a:scene3d>
            <a:sp3d prstMaterial="softEdge">
              <a:bevelT w="25400" h="25400"/>
            </a:sp3d>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41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mj-lt"/>
                <a:ea typeface="+mj-ea"/>
                <a:cs typeface="+mj-cs"/>
              </a:rPr>
              <a:t> </a:t>
            </a:r>
          </a:p>
        </p:txBody>
      </p:sp>
      <p:sp>
        <p:nvSpPr>
          <p:cNvPr id="2" name="Content Placeholder 1"/>
          <p:cNvSpPr>
            <a:spLocks noGrp="1"/>
          </p:cNvSpPr>
          <p:nvPr>
            <p:ph idx="1"/>
          </p:nvPr>
        </p:nvSpPr>
        <p:spPr bwMode="auto">
          <a:xfrm>
            <a:off x="457200" y="2133600"/>
            <a:ext cx="8229600" cy="5334000"/>
          </a:xfrm>
          <a:ln>
            <a:miter lim="800000"/>
          </a:ln>
          <a:effectLst/>
          <a:scene3d>
            <a:camera prst="orthographicFront"/>
            <a:lightRig rig="balanced" dir="t"/>
          </a:scene3d>
          <a:sp3d prstMaterial="plastic"/>
        </p:spPr>
        <p:txBody>
          <a:bodyPr vert="horz" wrap="square" lIns="91440" tIns="45720" rIns="91440" bIns="45720" numCol="1" anchor="t" anchorCtr="0" compatLnSpc="1"/>
          <a:lstStyle/>
          <a:p>
            <a:pPr marL="365125" marR="0" lvl="0" indent="-255905"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Char char=""/>
              <a:defRPr/>
            </a:pPr>
            <a:endParaRPr kumimoji="0" lang="en-US" sz="27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Algerian" panose="04020705040A02060702" pitchFamily="82" charset="0"/>
              <a:ea typeface="+mn-ea"/>
              <a:cs typeface="+mn-cs"/>
            </a:endParaRPr>
          </a:p>
          <a:p>
            <a:pPr marL="109220"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defRPr/>
            </a:pPr>
            <a:r>
              <a:rPr kumimoji="0" lang="en-IN" altLang="en-US" sz="66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lgerian" panose="04020705040A02060702" pitchFamily="82" charset="0"/>
                <a:ea typeface="+mn-ea"/>
                <a:cs typeface="+mn-cs"/>
              </a:rPr>
              <a:t> </a:t>
            </a:r>
            <a:r>
              <a:rPr kumimoji="0" lang="en-US" sz="66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lgerian" panose="04020705040A02060702" pitchFamily="82" charset="0"/>
                <a:ea typeface="+mn-ea"/>
                <a:cs typeface="+mn-cs"/>
              </a:rPr>
              <a:t>ANY QUERIES…?</a:t>
            </a:r>
          </a:p>
          <a:p>
            <a:pPr marL="365125" marR="0" lvl="0" indent="-255905"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Char char=""/>
              <a:defRPr/>
            </a:pPr>
            <a:endParaRPr kumimoji="0" lang="en-US" sz="66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lgerian" panose="04020705040A02060702" pitchFamily="82" charset="0"/>
              <a:ea typeface="+mn-ea"/>
              <a:cs typeface="+mn-cs"/>
            </a:endParaRPr>
          </a:p>
          <a:p>
            <a:pPr marL="109220"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defRPr/>
            </a:pPr>
            <a:endParaRPr kumimoji="0" lang="en-US" sz="66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lgerian" panose="04020705040A02060702" pitchFamily="82" charset="0"/>
              <a:ea typeface="+mn-ea"/>
              <a:cs typeface="+mn-cs"/>
            </a:endParaRPr>
          </a:p>
        </p:txBody>
      </p:sp>
      <p:sp>
        <p:nvSpPr>
          <p:cNvPr id="44036" name="Date Placeholder 3"/>
          <p:cNvSpPr txBox="1">
            <a:spLocks noGrp="1"/>
          </p:cNvSpPr>
          <p:nvPr>
            <p:ph type="dt" sz="half" idx="10"/>
          </p:nvPr>
        </p:nvSpPr>
        <p:spPr>
          <a:noFill/>
          <a:ln>
            <a:noFill/>
          </a:ln>
        </p:spPr>
        <p:txBody>
          <a:bodyPr anchor="b" anchorCtr="0"/>
          <a:lstStyle/>
          <a:p>
            <a:pPr marL="0" indent="0" eaLnBrk="1" hangingPunct="1">
              <a:spcBef>
                <a:spcPct val="0"/>
              </a:spcBef>
              <a:buClrTx/>
              <a:buSzTx/>
              <a:buFontTx/>
              <a:buNone/>
            </a:pPr>
            <a:r>
              <a:rPr lang="en-US" altLang="en-US" sz="1000" dirty="0">
                <a:latin typeface="Arial" panose="020B0604020202020204" pitchFamily="34" charset="0"/>
              </a:rPr>
              <a:t>2/28/2011</a:t>
            </a:r>
          </a:p>
        </p:txBody>
      </p:sp>
      <p:sp>
        <p:nvSpPr>
          <p:cNvPr id="44037" name="Slide Number Placeholder 4"/>
          <p:cNvSpPr txBox="1">
            <a:spLocks noGrp="1"/>
          </p:cNvSpPr>
          <p:nvPr>
            <p:ph type="sldNum" sz="quarter" idx="12"/>
          </p:nvPr>
        </p:nvSpPr>
        <p:spPr>
          <a:noFill/>
          <a:ln>
            <a:noFill/>
          </a:ln>
        </p:spPr>
        <p:txBody>
          <a:bodyPr anchor="b" anchorCtr="0"/>
          <a:lstStyle/>
          <a:p>
            <a:pPr marL="0" indent="0" algn="r" eaLnBrk="1" hangingPunct="1">
              <a:spcBef>
                <a:spcPct val="0"/>
              </a:spcBef>
              <a:buClrTx/>
              <a:buSzTx/>
              <a:buFontTx/>
              <a:buNone/>
            </a:pPr>
            <a:fld id="{9A0DB2DC-4C9A-4742-B13C-FB6460FD3503}" type="slidenum">
              <a:rPr lang="en-US" altLang="en-US" sz="1000" dirty="0">
                <a:latin typeface="Arial" panose="020B0604020202020204" pitchFamily="34" charset="0"/>
              </a:rPr>
              <a:pPr marL="0" indent="0" algn="r" eaLnBrk="1" hangingPunct="1">
                <a:spcBef>
                  <a:spcPct val="0"/>
                </a:spcBef>
                <a:buClrTx/>
                <a:buSzTx/>
                <a:buFontTx/>
                <a:buNone/>
              </a:pPr>
              <a:t>14</a:t>
            </a:fld>
            <a:endParaRPr lang="en-US" altLang="en-US" sz="10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590483"/>
            <a:ext cx="8229600" cy="4525962"/>
          </a:xfrm>
        </p:spPr>
        <p:txBody>
          <a:bodyPr/>
          <a:lstStyle/>
          <a:p>
            <a:pPr marL="109220" indent="0" algn="ctr">
              <a:buNone/>
            </a:pPr>
            <a:r>
              <a:rPr lang="en-US" sz="6600" b="1" noProof="0" dirty="0">
                <a:ln w="12700">
                  <a:solidFill>
                    <a:schemeClr val="tx2">
                      <a:satMod val="155000"/>
                    </a:schemeClr>
                  </a:solidFill>
                  <a:prstDash val="solid"/>
                </a:ln>
                <a:effectLst>
                  <a:outerShdw blurRad="41275" dist="20320" dir="1800000" algn="tl" rotWithShape="0">
                    <a:srgbClr val="000000">
                      <a:alpha val="40000"/>
                    </a:srgbClr>
                  </a:outerShdw>
                </a:effectLst>
                <a:uLnTx/>
                <a:uFillTx/>
                <a:latin typeface="Times New Roman" panose="02020603050405020304" pitchFamily="18" charset="0"/>
                <a:cs typeface="Times New Roman" panose="02020603050405020304" pitchFamily="18" charset="0"/>
                <a:sym typeface="+mn-ea"/>
              </a:rPr>
              <a:t>Thank you</a:t>
            </a:r>
            <a:endParaRPr kumimoji="0" lang="en-US" sz="6600" b="0"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endParaRPr>
          </a:p>
          <a:p>
            <a:pPr marL="109220" indent="0" algn="ctr">
              <a:buNone/>
            </a:pPr>
            <a:endParaRPr lang="en-US" sz="66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2/28/2011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288</TotalTime>
  <Words>963</Words>
  <Application>Microsoft Macintosh PowerPoint</Application>
  <PresentationFormat>On-screen Show (4:3)</PresentationFormat>
  <Paragraphs>131</Paragraphs>
  <Slides>15</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Algerian</vt:lpstr>
      <vt:lpstr>Arial</vt:lpstr>
      <vt:lpstr>Arial MT</vt:lpstr>
      <vt:lpstr>Calibri</vt:lpstr>
      <vt:lpstr>Calibri Light</vt:lpstr>
      <vt:lpstr>Gill Sans MT</vt:lpstr>
      <vt:lpstr>Inter</vt:lpstr>
      <vt:lpstr>Lucida Sans Unicode</vt:lpstr>
      <vt:lpstr>Times New Roman</vt:lpstr>
      <vt:lpstr>Trebuchet MS</vt:lpstr>
      <vt:lpstr>Wingdings</vt:lpstr>
      <vt:lpstr>Wingdings 3</vt:lpstr>
      <vt:lpstr>Office Theme</vt:lpstr>
      <vt:lpstr>PowerPoint Presentation</vt:lpstr>
      <vt:lpstr>Abstract</vt:lpstr>
      <vt:lpstr>EXISTING SYSTEM </vt:lpstr>
      <vt:lpstr>PROPOSED SYSTEM</vt:lpstr>
      <vt:lpstr>SYSTEM REQUIREMENT</vt:lpstr>
      <vt:lpstr>Literature survey</vt:lpstr>
      <vt:lpstr>ARCHITECTURE DIAGRAM</vt:lpstr>
      <vt:lpstr>USE CASE DIAGRAM</vt:lpstr>
      <vt:lpstr>      CLASS DIAGRAM  </vt:lpstr>
      <vt:lpstr>SEQUENCE DIAGRAM</vt:lpstr>
      <vt:lpstr>CONCLUSION</vt:lpstr>
      <vt:lpstr>Code </vt:lpstr>
      <vt:lpstr>REFERENCE</vt:lpstr>
      <vt:lpstr> </vt:lpstr>
      <vt:lpstr>PowerPoint Presentation</vt:lpstr>
    </vt:vector>
  </TitlesOfParts>
  <Company>FLSmidth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Cooperative Caching in Wireless P2P Networks: Design, Implementation and Evaluation</dc:title>
  <dc:creator>rpi-in</dc:creator>
  <cp:lastModifiedBy>Abhi Ch</cp:lastModifiedBy>
  <cp:revision>142</cp:revision>
  <dcterms:created xsi:type="dcterms:W3CDTF">2011-02-26T14:37:51Z</dcterms:created>
  <dcterms:modified xsi:type="dcterms:W3CDTF">2025-03-21T16:46:50Z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23165D9568AE4B7782D1CD9E4B581484_12</vt:lpwstr>
  </property>
  <property fmtid="{D5CDD505-2E9C-101B-9397-08002B2CF9AE}" pid="3" name="KSOProductBuildVer">
    <vt:lpwstr>1033-12.2.0.19805</vt:lpwstr>
  </property>
</Properties>
</file>